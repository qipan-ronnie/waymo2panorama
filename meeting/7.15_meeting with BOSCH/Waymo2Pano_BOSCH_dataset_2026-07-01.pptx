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2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EAD3"/>
    <a:srgbClr val="FBF6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545" autoAdjust="0"/>
  </p:normalViewPr>
  <p:slideViewPr>
    <p:cSldViewPr snapToGrid="0" snapToObjects="1">
      <p:cViewPr varScale="1">
        <p:scale>
          <a:sx n="142" d="100"/>
          <a:sy n="142" d="100"/>
        </p:scale>
        <p:origin x="978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C918B1-1E59-4B3E-8B43-3E94622DDD9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4AB084-963C-45AA-838F-C52595E1F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014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AB084-963C-45AA-838F-C52595E1F85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865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AB084-963C-45AA-838F-C52595E1F85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296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AB084-963C-45AA-838F-C52595E1F85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147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AB084-963C-45AA-838F-C52595E1F85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786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9F15E-F9A3-C63E-E013-8DE7B67F9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8038E9-77E9-F7B7-60A5-AE3DDCAE6A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C285AC-C550-E6AD-9254-BF4B02E41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700607-0CEC-5963-5C4F-E3CF947E51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AB084-963C-45AA-838F-C52595E1F85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5928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AB084-963C-45AA-838F-C52595E1F85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92044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60808" y="15014"/>
            <a:ext cx="12191695" cy="6858000"/>
          </a:xfrm>
          <a:prstGeom prst="rect">
            <a:avLst/>
          </a:prstGeom>
          <a:solidFill>
            <a:srgbClr val="6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64008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0" y="0"/>
            <a:ext cx="4873752" cy="64008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4297680" cy="4572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297680" y="6793992"/>
            <a:ext cx="7891272" cy="4572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25912" y="635508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FFCC00"/>
                </a:solidFill>
                <a:latin typeface="Calibri"/>
              </a:rPr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05156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dirty="0">
                <a:solidFill>
                  <a:srgbClr val="FFCC00"/>
                </a:solidFill>
                <a:latin typeface="Calibri"/>
              </a:rPr>
              <a:t>BOSCH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908792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dirty="0">
                <a:solidFill>
                  <a:srgbClr val="FFCC00"/>
                </a:solidFill>
                <a:latin typeface="Calibri"/>
              </a:rPr>
              <a:t>Perspective Images → 360° Panorama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dirty="0">
                <a:solidFill>
                  <a:srgbClr val="FBF6EC"/>
                </a:solidFill>
                <a:latin typeface="Calibri"/>
              </a:rPr>
              <a:t>1+92 Dataset Construction · Progress Update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4920" y="3822191"/>
            <a:ext cx="822960" cy="10972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iamond 10"/>
          <p:cNvSpPr/>
          <p:nvPr/>
        </p:nvSpPr>
        <p:spPr>
          <a:xfrm>
            <a:off x="6035040" y="3758184"/>
            <a:ext cx="118872" cy="118872"/>
          </a:xfrm>
          <a:prstGeom prst="diamond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3822191"/>
            <a:ext cx="822960" cy="10972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4114800"/>
            <a:ext cx="9628632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dirty="0">
                <a:solidFill>
                  <a:srgbClr val="FBF6EC"/>
                </a:solidFill>
                <a:latin typeface="Calibri"/>
              </a:rPr>
              <a:t>Freezing the pipeline into a scalable 1+92 dataset: AV2 sensor logs → 1 perfect 360° frame + 92 scene-band frames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93208" y="5212080"/>
            <a:ext cx="2011680" cy="502920"/>
          </a:xfrm>
          <a:prstGeom prst="rect">
            <a:avLst/>
          </a:prstGeom>
          <a:noFill/>
          <a:ln w="15875">
            <a:solidFill>
              <a:srgbClr val="FFC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93208" y="529437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400" b="1" dirty="0">
                <a:solidFill>
                  <a:srgbClr val="FFCC00"/>
                </a:solidFill>
                <a:latin typeface="Calibri"/>
              </a:rPr>
              <a:t>QI PAN</a:t>
            </a:r>
            <a:endParaRPr sz="1400" b="1" dirty="0">
              <a:solidFill>
                <a:srgbClr val="FFCC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64008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0" y="0"/>
            <a:ext cx="4873752" cy="64008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4297680" cy="36576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297680" y="6821424"/>
            <a:ext cx="7891272" cy="36576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25912" y="635508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990000"/>
                </a:solidFill>
                <a:latin typeface="Calibri"/>
              </a:rPr>
              <a:t>II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66928"/>
            <a:ext cx="411480" cy="27432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457200"/>
            <a:ext cx="1005840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990000"/>
                </a:solidFill>
                <a:latin typeface="Calibri"/>
              </a:rPr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841248"/>
            <a:ext cx="10908792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dirty="0">
                <a:solidFill>
                  <a:srgbClr val="990000"/>
                </a:solidFill>
                <a:latin typeface="Calibri"/>
              </a:rPr>
              <a:t>Dataset: </a:t>
            </a:r>
            <a:r>
              <a:rPr sz="3000" b="1" dirty="0" err="1">
                <a:solidFill>
                  <a:srgbClr val="990000"/>
                </a:solidFill>
                <a:latin typeface="Calibri"/>
              </a:rPr>
              <a:t>Argoverse</a:t>
            </a:r>
            <a:r>
              <a:rPr sz="3000" b="1" dirty="0">
                <a:solidFill>
                  <a:srgbClr val="990000"/>
                </a:solidFill>
                <a:latin typeface="Calibri"/>
              </a:rPr>
              <a:t> 2 Sensor — how much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48840"/>
            <a:ext cx="36576" cy="128016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2103120"/>
            <a:ext cx="31089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dirty="0">
                <a:solidFill>
                  <a:srgbClr val="990000"/>
                </a:solidFill>
                <a:latin typeface="Calibri"/>
              </a:rPr>
              <a:t>1000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035808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dirty="0">
                <a:solidFill>
                  <a:srgbClr val="4A3F33"/>
                </a:solidFill>
                <a:latin typeface="Calibri"/>
              </a:rPr>
              <a:t>SENSOR LOGS TOTAL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148840"/>
            <a:ext cx="36576" cy="128016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98848" y="2103120"/>
            <a:ext cx="31089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>
                <a:solidFill>
                  <a:srgbClr val="990000"/>
                </a:solidFill>
                <a:latin typeface="Calibri"/>
              </a:rPr>
              <a:t>150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3035808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dirty="0">
                <a:solidFill>
                  <a:srgbClr val="4A3F33"/>
                </a:solidFill>
                <a:latin typeface="Calibri"/>
              </a:rPr>
              <a:t>VAL LOGS · WE START HERE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2148840"/>
            <a:ext cx="36576" cy="128016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56448" y="2103120"/>
            <a:ext cx="31089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>
                <a:solidFill>
                  <a:srgbClr val="990000"/>
                </a:solidFill>
                <a:latin typeface="Calibri"/>
              </a:rPr>
              <a:t>~300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3035808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dirty="0">
                <a:solidFill>
                  <a:srgbClr val="4A3F33"/>
                </a:solidFill>
                <a:latin typeface="Calibri"/>
              </a:rPr>
              <a:t>FRAMES PER 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86200"/>
            <a:ext cx="10908792" cy="2377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1" dirty="0">
                <a:solidFill>
                  <a:srgbClr val="FFCC00"/>
                </a:solidFill>
                <a:latin typeface="Calibri"/>
              </a:rPr>
              <a:t>▸  </a:t>
            </a:r>
            <a:r>
              <a:rPr sz="2000" b="0" dirty="0">
                <a:solidFill>
                  <a:srgbClr val="1A1410"/>
                </a:solidFill>
                <a:latin typeface="Calibri"/>
              </a:rPr>
              <a:t>Argoverse 2 Sensor: 1000 driving logs (700 train / 150 val / 150 test), each ~15 s at ~300 frames.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1" dirty="0">
                <a:solidFill>
                  <a:srgbClr val="FFCC00"/>
                </a:solidFill>
                <a:latin typeface="Calibri"/>
              </a:rPr>
              <a:t>▸  </a:t>
            </a:r>
            <a:r>
              <a:rPr sz="2000" b="0" dirty="0">
                <a:solidFill>
                  <a:srgbClr val="1A1410"/>
                </a:solidFill>
                <a:latin typeface="Calibri"/>
              </a:rPr>
              <a:t>7 ring cameras give full 360° coverage + LiDAR + 3D annotations.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1" dirty="0">
                <a:solidFill>
                  <a:srgbClr val="FFCC00"/>
                </a:solidFill>
                <a:latin typeface="Calibri"/>
              </a:rPr>
              <a:t>▸  </a:t>
            </a:r>
            <a:r>
              <a:rPr sz="2000" b="0" dirty="0">
                <a:solidFill>
                  <a:srgbClr val="1A1410"/>
                </a:solidFill>
                <a:latin typeface="Calibri"/>
              </a:rPr>
              <a:t>We start from the 150 val logs and scale toward the full 1000.</a:t>
            </a:r>
            <a:r>
              <a:rPr sz="2000" b="1" dirty="0">
                <a:solidFill>
                  <a:srgbClr val="990000"/>
                </a:solidFill>
                <a:latin typeface="Calibri"/>
              </a:rPr>
              <a:t/>
            </a:r>
            <a:r>
              <a:rPr sz="2000" b="0" dirty="0">
                <a:solidFill>
                  <a:srgbClr val="1A1410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64008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0" y="0"/>
            <a:ext cx="4873752" cy="64008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4297680" cy="36576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297680" y="6821424"/>
            <a:ext cx="7891272" cy="36576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25912" y="635508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990000"/>
                </a:solidFill>
                <a:latin typeface="Calibri"/>
              </a:rPr>
              <a:t>IV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66928"/>
            <a:ext cx="411480" cy="27432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457200"/>
            <a:ext cx="1005840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dirty="0">
                <a:solidFill>
                  <a:srgbClr val="990000"/>
                </a:solidFill>
                <a:latin typeface="Calibri"/>
              </a:rPr>
              <a:t>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3984"/>
            <a:ext cx="10908792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2800" b="1" dirty="0">
                <a:solidFill>
                  <a:srgbClr val="990000"/>
                </a:solidFill>
                <a:latin typeface="Calibri"/>
              </a:rPr>
              <a:t>P</a:t>
            </a:r>
            <a:r>
              <a:rPr sz="2800" b="1" dirty="0">
                <a:solidFill>
                  <a:srgbClr val="990000"/>
                </a:solidFill>
                <a:latin typeface="Calibri"/>
              </a:rPr>
              <a:t>ipeline: our algorithm frozen into a repeatable 1+92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6760" y="1091184"/>
            <a:ext cx="11064240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</a:pPr>
            <a:r>
              <a:rPr sz="1600" b="1" dirty="0">
                <a:solidFill>
                  <a:srgbClr val="990000"/>
                </a:solidFill>
                <a:latin typeface="Calibri"/>
              </a:rPr>
              <a:t>①  Band-gate </a:t>
            </a:r>
            <a:r>
              <a:rPr sz="1600" b="1" dirty="0" err="1">
                <a:solidFill>
                  <a:srgbClr val="990000"/>
                </a:solidFill>
                <a:latin typeface="Calibri"/>
              </a:rPr>
              <a:t> </a:t>
            </a:r>
            <a:r>
              <a:rPr sz="1600" b="1" dirty="0">
                <a:solidFill>
                  <a:srgbClr val="990000"/>
                </a:solidFill>
                <a:latin typeface="Calibri"/>
              </a:rPr>
              <a:t>  </a:t>
            </a:r>
            <a:r>
              <a:rPr sz="1600" b="0" dirty="0">
                <a:solidFill>
                  <a:srgbClr val="1A1410"/>
                </a:solidFill>
                <a:latin typeface="Calibri"/>
              </a:rPr>
              <a:t>— </a:t>
            </a:r>
            <a:r>
              <a:rPr lang="en-US" sz="1400" dirty="0">
                <a:solidFill>
                  <a:srgbClr val="1A1410"/>
                </a:solidFill>
              </a:rPr>
              <a:t> render every frame’s scene band, gate each frame on seam residual (max_reg_px ≤ 8 px), take the longest clean run (≥ 93 frames).</a:t>
            </a:r>
            <a:r>
              <a:rPr lang="en-US" sz="1400" dirty="0" err="1">
                <a:solidFill>
                  <a:srgbClr val="1A1410"/>
                </a:solidFill>
              </a:rPr>
              <a:t/>
            </a:r>
            <a:r>
              <a:rPr lang="en-US" sz="1400" dirty="0">
                <a:solidFill>
                  <a:srgbClr val="1A1410"/>
                </a:solidFill>
              </a:rPr>
              <a:t/>
            </a:r>
            <a:endParaRPr sz="1400" b="0" dirty="0">
              <a:solidFill>
                <a:srgbClr val="1A1410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5236" y="1669657"/>
            <a:ext cx="11064240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</a:pPr>
            <a:r>
              <a:rPr sz="1600" b="1" dirty="0">
                <a:solidFill>
                  <a:srgbClr val="990000"/>
                </a:solidFill>
                <a:latin typeface="Calibri"/>
              </a:rPr>
              <a:t>②  Frame-1 selection  </a:t>
            </a:r>
            <a:r>
              <a:rPr sz="1600" b="0" dirty="0">
                <a:solidFill>
                  <a:srgbClr val="1A1410"/>
                </a:solidFill>
                <a:latin typeface="Calibri"/>
              </a:rPr>
              <a:t>—</a:t>
            </a:r>
            <a:r>
              <a:rPr lang="en-US" sz="1400" dirty="0">
                <a:solidFill>
                  <a:srgbClr val="1A1410"/>
                </a:solidFill>
              </a:rPr>
              <a:t>the imperfect metric (count of nadir pixels lacking real data) picks the most-complete frame as the 360° anchor; general across scenes, zero per-scene tuning.</a:t>
            </a:r>
            <a:r>
              <a:rPr lang="en-US" sz="1400" dirty="0" err="1">
                <a:solidFill>
                  <a:srgbClr val="1A1410"/>
                </a:solidFill>
              </a:rPr>
              <a:t/>
            </a:r>
            <a:r>
              <a:rPr lang="en-US" sz="1400" dirty="0">
                <a:solidFill>
                  <a:srgbClr val="1A1410"/>
                </a:solidFill>
              </a:rPr>
              <a:t/>
            </a:r>
            <a:endParaRPr sz="1400" b="0" dirty="0">
              <a:solidFill>
                <a:srgbClr val="1A1410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3712" y="2255843"/>
            <a:ext cx="11303508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</a:pPr>
            <a:r>
              <a:rPr sz="1600" b="1" dirty="0">
                <a:solidFill>
                  <a:srgbClr val="990000"/>
                </a:solidFill>
                <a:latin typeface="Calibri"/>
              </a:rPr>
              <a:t>③  Complete + package  </a:t>
            </a:r>
            <a:r>
              <a:rPr sz="1600" b="0" dirty="0">
                <a:solidFill>
                  <a:srgbClr val="1A1410"/>
                </a:solidFill>
                <a:latin typeface="Calibri"/>
              </a:rPr>
              <a:t>— </a:t>
            </a:r>
            <a:r>
              <a:rPr lang="en-US" sz="1600" dirty="0">
                <a:solidFill>
                  <a:srgbClr val="1A1410"/>
                </a:solidFill>
              </a:rPr>
              <a:t>real ground (multi-camera + temporal reprojection) + FLUX sky outpaint + FLUX blind-spot fill → one perfect frame-1; pack 1 perfect frame + 92 scene-band frames = one 1+92 sample.</a:t>
            </a:r>
            <a:r>
              <a:rPr lang="en-US" sz="1600" dirty="0" err="1">
                <a:solidFill>
                  <a:srgbClr val="1A1410"/>
                </a:solidFill>
              </a:rPr>
              <a:t/>
            </a:r>
            <a:r>
              <a:rPr lang="en-US" sz="1600" dirty="0">
                <a:solidFill>
                  <a:srgbClr val="1A1410"/>
                </a:solidFill>
              </a:rPr>
              <a:t/>
            </a:r>
            <a:endParaRPr sz="1600" b="0" dirty="0">
              <a:solidFill>
                <a:srgbClr val="1A1410"/>
              </a:solidFill>
              <a:latin typeface="Calibri"/>
            </a:endParaRPr>
          </a:p>
        </p:txBody>
      </p:sp>
      <p:pic>
        <p:nvPicPr>
          <p:cNvPr id="19" name="Picture 18" descr="fig2_bmw_final_pan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3321102"/>
            <a:ext cx="10607040" cy="3500322"/>
          </a:xfrm>
          <a:prstGeom prst="rect">
            <a:avLst/>
          </a:prstGeom>
          <a:ln w="12700">
            <a:solidFill>
              <a:srgbClr val="CCC0A8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64008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0" y="0"/>
            <a:ext cx="4873752" cy="64008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4297680" cy="36576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297680" y="6821424"/>
            <a:ext cx="7891272" cy="36576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25912" y="635508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990000"/>
                </a:solidFill>
                <a:latin typeface="Calibri"/>
              </a:rPr>
              <a:t>V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66928"/>
            <a:ext cx="411480" cy="27432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457200"/>
            <a:ext cx="1005840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990000"/>
                </a:solidFill>
                <a:latin typeface="Calibri"/>
              </a:rPr>
              <a:t>COMPUTE &amp; THROUGHPUT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841248"/>
            <a:ext cx="10908792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990000"/>
                </a:solidFill>
                <a:latin typeface="Calibri"/>
              </a:rPr>
              <a:t>Compute &amp; throughput: what one log costs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961" y="1537163"/>
            <a:ext cx="53492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dirty="0">
                <a:solidFill>
                  <a:srgbClr val="990000"/>
                </a:solidFill>
                <a:latin typeface="Calibri"/>
              </a:rPr>
              <a:t>HARDWARE</a:t>
            </a:r>
            <a:r>
              <a:rPr sz="2000" b="0" dirty="0">
                <a:solidFill>
                  <a:srgbClr val="6B6058"/>
                </a:solidFill>
                <a:latin typeface="Calibri"/>
              </a:rPr>
              <a:t xml:space="preserve">  — 4 machines, 44 CPU cores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961" y="1948643"/>
            <a:ext cx="5349240" cy="12801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8490" y="2062028"/>
            <a:ext cx="5349240" cy="3566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dirty="0">
                <a:solidFill>
                  <a:srgbClr val="990000"/>
                </a:solidFill>
                <a:latin typeface="Calibri"/>
              </a:rPr>
              <a:t xml:space="preserve">4 runtimes  </a:t>
            </a:r>
            <a:r>
              <a:rPr sz="1600" b="0" dirty="0">
                <a:solidFill>
                  <a:srgbClr val="1A1410"/>
                </a:solidFill>
                <a:latin typeface="Calibri"/>
              </a:rPr>
              <a:t>= 1×A100 + 2×L4 + 1×T4 = 44 CPU cores.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dirty="0">
                <a:solidFill>
                  <a:srgbClr val="990000"/>
                </a:solidFill>
                <a:latin typeface="Calibri"/>
              </a:rPr>
              <a:t xml:space="preserve">Band-gate  </a:t>
            </a:r>
            <a:r>
              <a:rPr sz="1600" b="0" dirty="0">
                <a:solidFill>
                  <a:srgbClr val="1A1410"/>
                </a:solidFill>
                <a:latin typeface="Calibri"/>
              </a:rPr>
              <a:t>is CPU-bound — GPU sits at 0% util, so cheap L4/T4 cores do the heavy lifting.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dirty="0">
                <a:solidFill>
                  <a:srgbClr val="990000"/>
                </a:solidFill>
                <a:latin typeface="Calibri"/>
              </a:rPr>
              <a:t xml:space="preserve">FLUX  </a:t>
            </a:r>
            <a:r>
              <a:rPr sz="1600" b="0" dirty="0">
                <a:solidFill>
                  <a:srgbClr val="1A1410"/>
                </a:solidFill>
                <a:latin typeface="Calibri"/>
              </a:rPr>
              <a:t>(sky + blind-spot fill) runs on the A100.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537163"/>
            <a:ext cx="53492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dirty="0">
                <a:solidFill>
                  <a:srgbClr val="990000"/>
                </a:solidFill>
                <a:latin typeface="Calibri"/>
              </a:rPr>
              <a:t>THROUGHPUT</a:t>
            </a:r>
            <a:r>
              <a:rPr sz="2000" b="0" dirty="0">
                <a:solidFill>
                  <a:srgbClr val="6B6058"/>
                </a:solidFill>
                <a:latin typeface="Calibri"/>
              </a:rPr>
              <a:t xml:space="preserve">  — S3 to local SSD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948643"/>
            <a:ext cx="5349240" cy="12801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2004568"/>
            <a:ext cx="5349240" cy="3566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dirty="0">
                <a:solidFill>
                  <a:srgbClr val="990000"/>
                </a:solidFill>
                <a:latin typeface="Calibri"/>
              </a:rPr>
              <a:t xml:space="preserve">Key speed-up  </a:t>
            </a:r>
            <a:r>
              <a:rPr sz="1600" b="0" dirty="0">
                <a:solidFill>
                  <a:srgbClr val="1A1410"/>
                </a:solidFill>
                <a:latin typeface="Calibri"/>
              </a:rPr>
              <a:t>s5cmd pulls each log from the public AV2 S3 to local SSD, ~90× faster than reading Drive.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dirty="0">
                <a:solidFill>
                  <a:srgbClr val="990000"/>
                </a:solidFill>
                <a:latin typeface="Calibri"/>
              </a:rPr>
              <a:t xml:space="preserve">Saturated  </a:t>
            </a:r>
            <a:r>
              <a:rPr sz="1600" b="0" dirty="0">
                <a:solidFill>
                  <a:srgbClr val="1A1410"/>
                </a:solidFill>
                <a:latin typeface="Calibri"/>
              </a:rPr>
              <a:t>all 4 machines’ CPUs are then fully saturated (load 12–16).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dirty="0">
                <a:solidFill>
                  <a:srgbClr val="990000"/>
                </a:solidFill>
                <a:latin typeface="Calibri"/>
              </a:rPr>
              <a:t xml:space="preserve">Time / log  </a:t>
            </a:r>
            <a:r>
              <a:rPr sz="1600" b="0" dirty="0">
                <a:solidFill>
                  <a:srgbClr val="1A1410"/>
                </a:solidFill>
                <a:latin typeface="Calibri"/>
              </a:rPr>
              <a:t>___ min (measuring the saturated run; the un-optimized Drive-I/O version was ~73 min).</a:t>
            </a:r>
          </a:p>
        </p:txBody>
      </p:sp>
      <p:pic>
        <p:nvPicPr>
          <p:cNvPr id="17" name="Picture 16" descr="real_flow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027" y="4609782"/>
            <a:ext cx="11789946" cy="20477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B0214-5D29-4440-8E29-FE8D8B824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37D6E2-2874-33F8-3579-4FE4A4380BD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09A734-59C4-171E-22A9-B0705F5D1B3C}"/>
              </a:ext>
            </a:extLst>
          </p:cNvPr>
          <p:cNvSpPr/>
          <p:nvPr/>
        </p:nvSpPr>
        <p:spPr>
          <a:xfrm>
            <a:off x="0" y="0"/>
            <a:ext cx="7315200" cy="64008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9A6F96-839F-CE35-A8B2-84BD39CCC514}"/>
              </a:ext>
            </a:extLst>
          </p:cNvPr>
          <p:cNvSpPr/>
          <p:nvPr/>
        </p:nvSpPr>
        <p:spPr>
          <a:xfrm>
            <a:off x="7315200" y="0"/>
            <a:ext cx="4873752" cy="64008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6541B7F-2B3F-9185-6FDB-9C8012B2C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914400"/>
            <a:ext cx="10881360" cy="544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621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64008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0" y="0"/>
            <a:ext cx="4873752" cy="64008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4297680" cy="36576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297680" y="6821424"/>
            <a:ext cx="7891272" cy="36576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25912" y="635508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990000"/>
                </a:solidFill>
                <a:latin typeface="Calibri"/>
              </a:rPr>
              <a:t>VI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66928"/>
            <a:ext cx="411480" cy="27432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457200"/>
            <a:ext cx="1005840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990000"/>
                </a:solidFill>
                <a:latin typeface="Calibri"/>
              </a:rPr>
              <a:t>PROGRESS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841248"/>
            <a:ext cx="10908792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dirty="0">
                <a:solidFill>
                  <a:srgbClr val="990000"/>
                </a:solidFill>
                <a:latin typeface="Calibri"/>
              </a:rPr>
              <a:t>Progress: 1+92 samples built so far</a:t>
            </a:r>
          </a:p>
        </p:txBody>
      </p:sp>
      <p:pic>
        <p:nvPicPr>
          <p:cNvPr id="11" name="Picture 10" descr="downtown_complete_v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271016"/>
            <a:ext cx="4974336" cy="2487168"/>
          </a:xfrm>
          <a:prstGeom prst="rect">
            <a:avLst/>
          </a:prstGeom>
          <a:ln w="12700">
            <a:solidFill>
              <a:srgbClr val="CCC0A8"/>
            </a:solidFill>
          </a:ln>
        </p:spPr>
      </p:pic>
      <p:pic>
        <p:nvPicPr>
          <p:cNvPr id="12" name="Picture 11" descr="bmw_complete_v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6" y="1271016"/>
            <a:ext cx="4974336" cy="2487168"/>
          </a:xfrm>
          <a:prstGeom prst="rect">
            <a:avLst/>
          </a:prstGeom>
          <a:ln w="12700">
            <a:solidFill>
              <a:srgbClr val="CCC0A8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153252B-12CB-308B-7CF5-C66E9512B4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3758184"/>
            <a:ext cx="4974336" cy="248716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45B1CEF-0BE1-1883-31B7-6BB1F48313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3056" y="3758184"/>
            <a:ext cx="4974336" cy="24871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1300</TotalTime>
  <Words>490</Words>
  <Application>Microsoft Office PowerPoint</Application>
  <PresentationFormat>Widescreen</PresentationFormat>
  <Paragraphs>44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e15042</cp:lastModifiedBy>
  <cp:revision>34</cp:revision>
  <dcterms:created xsi:type="dcterms:W3CDTF">2013-01-27T09:14:16Z</dcterms:created>
  <dcterms:modified xsi:type="dcterms:W3CDTF">2026-06-13T03:56:59Z</dcterms:modified>
  <cp:category/>
</cp:coreProperties>
</file>