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64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AD3"/>
    <a:srgbClr val="FBF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45" autoAdjust="0"/>
  </p:normalViewPr>
  <p:slideViewPr>
    <p:cSldViewPr snapToGrid="0" snapToObjects="1">
      <p:cViewPr varScale="1">
        <p:scale>
          <a:sx n="142" d="100"/>
          <a:sy n="142" d="100"/>
        </p:scale>
        <p:origin x="97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918B1-1E59-4B3E-8B43-3E94622DDD9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AB084-963C-45AA-838F-C52595E1F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1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6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2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16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9F15E-F9A3-C63E-E013-8DE7B67F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038E9-77E9-F7B7-60A5-AE3DDCAE6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85AC-C550-E6AD-9254-BF4B02E41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0607-0CEC-5963-5C4F-E3CF947E5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92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2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15014"/>
            <a:ext cx="12191695" cy="6858000"/>
          </a:xfrm>
          <a:prstGeom prst="rect">
            <a:avLst/>
          </a:prstGeom>
          <a:solidFill>
            <a:srgbClr val="6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4297680" cy="457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793992"/>
            <a:ext cx="7891272" cy="4572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CC00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BOSCH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dirty="0">
                <a:solidFill>
                  <a:srgbClr val="FFCC00"/>
                </a:solidFill>
                <a:latin typeface="Calibri"/>
              </a:rPr>
              <a:t>Perspective Images → 360° Panorama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FBF6EC"/>
                </a:solidFill>
                <a:latin typeface="Calibri"/>
              </a:rPr>
              <a:t>1+92 Dataset · v15 Data Contract · 2026-07-15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3822191"/>
            <a:ext cx="822960" cy="109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6035040" y="3758184"/>
            <a:ext cx="118872" cy="118872"/>
          </a:xfrm>
          <a:prstGeom prst="diamond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3822191"/>
            <a:ext cx="822960" cy="109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962863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dirty="0">
                <a:solidFill>
                  <a:srgbClr val="FBF6EC"/>
                </a:solidFill>
                <a:latin typeface="Calibri"/>
              </a:rPr>
              <a:t>Dual-version scene-band (A/B) + strict masks — white = strictly real, black = to generate · val 150 complete, scaling to train 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3208" y="5212080"/>
            <a:ext cx="2011680" cy="502920"/>
          </a:xfrm>
          <a:prstGeom prst="rect">
            <a:avLst/>
          </a:prstGeom>
          <a:noFill/>
          <a:ln w="15875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5294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FFCC00"/>
                </a:solidFill>
                <a:latin typeface="Calibri"/>
              </a:rPr>
              <a:t>QI PAN</a:t>
            </a:r>
            <a:endParaRPr sz="1400" b="1" dirty="0">
              <a:solidFill>
                <a:srgbClr val="FFCC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990000"/>
                </a:solidFill>
                <a:latin typeface="Calibri"/>
              </a:rPr>
              <a:t>Dataset: </a:t>
            </a:r>
            <a:r>
              <a:rPr sz="3000" b="1" dirty="0" err="1">
                <a:solidFill>
                  <a:srgbClr val="990000"/>
                </a:solidFill>
                <a:latin typeface="Calibri"/>
              </a:rPr>
              <a:t>Argoverse</a:t>
            </a:r>
            <a:r>
              <a:rPr sz="3000" b="1" dirty="0">
                <a:solidFill>
                  <a:srgbClr val="990000"/>
                </a:solidFill>
                <a:latin typeface="Calibri"/>
              </a:rPr>
              <a:t> 2 Sensor — how much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dirty="0">
                <a:solidFill>
                  <a:srgbClr val="990000"/>
                </a:solidFill>
                <a:latin typeface="Calibri"/>
              </a:rP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SENSOR LOGS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990000"/>
                </a:solidFill>
                <a:latin typeface="Calibri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VAL LOGS · WE START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990000"/>
                </a:solidFill>
                <a:latin typeface="Calibri"/>
              </a:rPr>
              <a:t>~300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FRAMES PER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0908792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AV2 Sensor: 1000 logs — but test 150 has no 3D annotations, so USABLE = 850 (train 700 + val 150), ~20 s / ~300 frames each.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7 ring cameras give full 360° coverage + LiDAR + 3D annotations; compute: 3 machines / 108 CPU cores, ~10–12 min per sample (A/B incl.), crash-safe resumable ledger.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val 150: COMPLETE — 101 dual-version samples (67% pass, γ strip-rule saved 34). Train 700 running now; ~500 samples expected in total.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IV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Calibri"/>
              </a:rPr>
              <a:t>SCENE-BAND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3984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b="1" dirty="0">
                <a:solidFill>
                  <a:srgbClr val="990000"/>
                </a:solidFill>
                <a:latin typeface="Calibri"/>
              </a:rPr>
              <a:t>S</a:t>
            </a:r>
            <a:r>
              <a:rPr sz="2800" b="1" dirty="0">
                <a:solidFill>
                  <a:srgbClr val="990000"/>
                </a:solidFill>
                <a:latin typeface="Calibri"/>
              </a:rPr>
              <a:t>cene-band: two treatments, one shared mask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60" y="1091184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①  Version A </a:t>
            </a:r>
            <a:r>
              <a:rPr sz="1600" b="1" dirty="0" err="1">
                <a:solidFill>
                  <a:srgbClr val="990000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990000"/>
                </a:solidFill>
                <a:latin typeface="Calibri"/>
              </a:rPr>
              <a:t>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 </a:t>
            </a:r>
            <a:r>
              <a:rPr lang="en-US" sz="1400" dirty="0">
                <a:solidFill>
                  <a:srgbClr val="1A1410"/>
                </a:solidFill>
              </a:rPr>
              <a:t> white hood removed, refilled with real road pixels (temporal reprojection + world-BEV). What no camera ever saw — e.g. the lower half of a close-parked truck the hood used to cover — stays honest black.</a:t>
            </a:r>
            <a:endParaRPr sz="1400" b="0" dirty="0">
              <a:solidFill>
                <a:srgbClr val="1A141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6760" y="1584418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②  Version B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</a:t>
            </a:r>
            <a:r>
              <a:rPr lang="en-US" sz="1400" dirty="0">
                <a:solidFill>
                  <a:srgbClr val="1A1410"/>
                </a:solidFill>
              </a:rPr>
              <a:t>hood region simply blacked out — zero fill. Same windows, same frames as A, masks aligned pixel-for-pixel: a clean A/B pair for training comparison.</a:t>
            </a:r>
            <a:endParaRPr sz="1400" b="0" dirty="0">
              <a:solidFill>
                <a:srgbClr val="1A141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6760" y="2077731"/>
            <a:ext cx="11303508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③  Mask contract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 </a:t>
            </a:r>
            <a:r>
              <a:rPr lang="en-US" sz="1600" dirty="0">
                <a:solidFill>
                  <a:srgbClr val="1A1410"/>
                </a:solidFill>
              </a:rPr>
              <a:t>white = strictly real camera pixels; black = model generates (never-seen occlusions, Telea residue, flawed-seam strips, hood region in B). Both versions ship for every sample.</a:t>
            </a:r>
            <a:endParaRPr sz="1600" b="0" dirty="0">
              <a:solidFill>
                <a:srgbClr val="1A1410"/>
              </a:solidFill>
              <a:latin typeface="Calibri"/>
            </a:endParaRPr>
          </a:p>
        </p:txBody>
      </p:sp>
      <p:pic>
        <p:nvPicPr>
          <p:cNvPr id="19" name="Picture 18" descr="fig2_bmw_final_pan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2575560"/>
            <a:ext cx="9901288" cy="190735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31" name="Picture 30" descr="ab_m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32" y="4498766"/>
            <a:ext cx="11688368" cy="2222074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0214-5D29-4440-8E29-FE8D8B82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7D6E2-2874-33F8-3579-4FE4A4380B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9A734-59C4-171E-22A9-B0705F5D1B3C}"/>
              </a:ext>
            </a:extLst>
          </p:cNvPr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A6F96-839F-CE35-A8B2-84BD39CCC514}"/>
              </a:ext>
            </a:extLst>
          </p:cNvPr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541B7F-2B3F-9185-6FDB-9C8012B2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830943"/>
            <a:ext cx="11400000" cy="360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2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0214-5D29-4440-8E29-FE8D8B82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7D6E2-2874-33F8-3579-4FE4A4380B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9A734-59C4-171E-22A9-B0705F5D1B3C}"/>
              </a:ext>
            </a:extLst>
          </p:cNvPr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A6F96-839F-CE35-A8B2-84BD39CCC514}"/>
              </a:ext>
            </a:extLst>
          </p:cNvPr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541B7F-2B3F-9185-6FDB-9C8012B2C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46" y="914400"/>
            <a:ext cx="8868308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2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VI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dirty="0">
                <a:solidFill>
                  <a:srgbClr val="990000"/>
                </a:solidFill>
                <a:latin typeface="Calibri"/>
              </a:rPr>
              <a:t>Progress: val done — 101 samples (γ saved 34) · train running · ~500 expected</a:t>
            </a:r>
          </a:p>
        </p:txBody>
      </p:sp>
      <p:pic>
        <p:nvPicPr>
          <p:cNvPr id="11" name="Picture 10" descr="downtown_complete_v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271016"/>
            <a:ext cx="4974336" cy="248716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12" name="Picture 11" descr="bmw_complete_v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271016"/>
            <a:ext cx="4974336" cy="248716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53252B-12CB-308B-7CF5-C66E9512B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758184"/>
            <a:ext cx="4974336" cy="24871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5B1CEF-0BE1-1883-31B7-6BB1F4831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3758184"/>
            <a:ext cx="4974336" cy="2487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336</Words>
  <Application>Microsoft Office PowerPoint</Application>
  <PresentationFormat>Widescreen</PresentationFormat>
  <Paragraphs>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e15042</cp:lastModifiedBy>
  <cp:revision>35</cp:revision>
  <dcterms:created xsi:type="dcterms:W3CDTF">2013-01-27T09:14:16Z</dcterms:created>
  <dcterms:modified xsi:type="dcterms:W3CDTF">2026-07-15T10:00:49Z</dcterms:modified>
  <cp:category/>
</cp:coreProperties>
</file>