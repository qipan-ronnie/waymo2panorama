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3" r:id="rId13"/>
    <p:sldId id="264" r:id="rId14"/>
    <p:sldId id="262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AD3"/>
    <a:srgbClr val="FBF6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545" autoAdjust="0"/>
  </p:normalViewPr>
  <p:slideViewPr>
    <p:cSldViewPr snapToGrid="0" snapToObjects="1">
      <p:cViewPr varScale="1">
        <p:scale>
          <a:sx n="142" d="100"/>
          <a:sy n="142" d="100"/>
        </p:scale>
        <p:origin x="978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  <Relationship Id="rId13" Type="http://schemas.openxmlformats.org/officeDocument/2006/relationships/slide" Target="slides/slide7.xml"/>
  <Relationship Id="rId14" Type="http://schemas.openxmlformats.org/officeDocument/2006/relationships/slide" Target="slides/slide8.xml"/>
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918B1-1E59-4B3E-8B43-3E94622DDD92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4AB084-963C-45AA-838F-C52595E1F8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14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4AB084-963C-45AA-838F-C52595E1F8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65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4AB084-963C-45AA-838F-C52595E1F85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29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F15E-F9A3-C63E-E013-8DE7B67F9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038E9-77E9-F7B7-60A5-AE3DDCAE6A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C285AC-C550-E6AD-9254-BF4B02E41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00607-0CEC-5963-5C4F-E3CF947E5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4AB084-963C-45AA-838F-C52595E1F8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92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4AB084-963C-45AA-838F-C52595E1F8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2044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60808" y="15014"/>
            <a:ext cx="12191695" cy="6858000"/>
          </a:xfrm>
          <a:prstGeom prst="rect">
            <a:avLst/>
          </a:prstGeom>
          <a:solidFill>
            <a:srgbClr val="6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4297680" cy="4572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97680" y="6793992"/>
            <a:ext cx="7891272" cy="4572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25912" y="635508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CC00"/>
                </a:solidFill>
                <a:latin typeface="Calibri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dirty="0">
                <a:solidFill>
                  <a:srgbClr val="FFCC00"/>
                </a:solidFill>
                <a:latin typeface="Calibri"/>
              </a:rPr>
              <a:t>BOSCH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08792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dirty="0">
                <a:solidFill>
                  <a:srgbClr val="FFCC00"/>
                </a:solidFill>
                <a:latin typeface="Calibri"/>
              </a:rPr>
              <a:t>Perspective Images → 360° Panorama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dirty="0">
                <a:solidFill>
                  <a:srgbClr val="FBF6EC"/>
                </a:solidFill>
                <a:latin typeface="Calibri"/>
              </a:rPr>
              <a:t>1+92 Dataset · v15 Data Contract · 2026-07-15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3822191"/>
            <a:ext cx="822960" cy="109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iamond 10"/>
          <p:cNvSpPr/>
          <p:nvPr/>
        </p:nvSpPr>
        <p:spPr>
          <a:xfrm>
            <a:off x="6035040" y="3758184"/>
            <a:ext cx="118872" cy="118872"/>
          </a:xfrm>
          <a:prstGeom prst="diamond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3822191"/>
            <a:ext cx="822960" cy="109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962863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 dirty="0">
                <a:solidFill>
                  <a:srgbClr val="FBF6EC"/>
                </a:solidFill>
                <a:latin typeface="Calibri"/>
              </a:rPr>
              <a:t>Dual-version scene-band (A/B) + strict masks — white = strictly real, black = to generate · PRODUCTION COMPLETE: 555 samples delivered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93208" y="5212080"/>
            <a:ext cx="2011680" cy="502920"/>
          </a:xfrm>
          <a:prstGeom prst="rect">
            <a:avLst/>
          </a:prstGeom>
          <a:noFill/>
          <a:ln w="15875">
            <a:solidFill>
              <a:srgbClr val="FFC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93208" y="529437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dirty="0">
                <a:solidFill>
                  <a:srgbClr val="FFCC00"/>
                </a:solidFill>
                <a:latin typeface="Calibri"/>
              </a:rPr>
              <a:t>QI PAN</a:t>
            </a:r>
            <a:endParaRPr sz="1400" b="1" dirty="0">
              <a:solidFill>
                <a:srgbClr val="FFCC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1424"/>
            <a:ext cx="4297680" cy="36576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97680" y="6821424"/>
            <a:ext cx="7891272" cy="36576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25912" y="635508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90000"/>
                </a:solidFill>
                <a:latin typeface="Calibri"/>
              </a:rPr>
              <a:t>II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6928"/>
            <a:ext cx="411480" cy="2743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457200"/>
            <a:ext cx="1005840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90000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dirty="0">
                <a:solidFill>
                  <a:srgbClr val="990000"/>
                </a:solidFill>
                <a:latin typeface="Calibri"/>
              </a:rPr>
              <a:t>Dataset: </a:t>
            </a:r>
            <a:r>
              <a:rPr sz="3000" b="1" dirty="0" err="1">
                <a:solidFill>
                  <a:srgbClr val="990000"/>
                </a:solidFill>
                <a:latin typeface="Calibri"/>
              </a:rPr>
              <a:t>Argoverse</a:t>
            </a:r>
            <a:r>
              <a:rPr sz="3000" b="1" dirty="0">
                <a:solidFill>
                  <a:srgbClr val="990000"/>
                </a:solidFill>
                <a:latin typeface="Calibri"/>
              </a:rPr>
              <a:t> 2 Sensor — how much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48840"/>
            <a:ext cx="36576" cy="128016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1031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dirty="0">
                <a:solidFill>
                  <a:srgbClr val="990000"/>
                </a:solidFill>
                <a:latin typeface="Calibri"/>
              </a:rPr>
              <a:t>1000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035808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4A3F33"/>
                </a:solidFill>
                <a:latin typeface="Calibri"/>
              </a:rPr>
              <a:t>SENSOR LOGS TOTAL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148840"/>
            <a:ext cx="36576" cy="128016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98848" y="21031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990000"/>
                </a:solidFill>
                <a:latin typeface="Calibri"/>
              </a:rPr>
              <a:t>555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3035808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4A3F33"/>
                </a:solidFill>
                <a:latin typeface="Calibri"/>
              </a:rPr>
              <a:t>SAMPLES DELIVERED (A/B)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148840"/>
            <a:ext cx="36576" cy="128016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21031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990000"/>
                </a:solidFill>
                <a:latin typeface="Calibri"/>
              </a:rPr>
              <a:t>~300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3035808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4A3F33"/>
                </a:solidFill>
                <a:latin typeface="Calibri"/>
              </a:rPr>
              <a:t>FRAMES PER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86200"/>
            <a:ext cx="10908792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FFCC00"/>
                </a:solidFill>
                <a:latin typeface="Calibri"/>
              </a:rPr>
              <a:t>▸  </a:t>
            </a:r>
            <a:r>
              <a:rPr sz="2000" b="0" dirty="0">
                <a:solidFill>
                  <a:srgbClr val="1A1410"/>
                </a:solidFill>
                <a:latin typeface="Calibri"/>
              </a:rPr>
              <a:t>AV2 Sensor: 1000 logs — but test 150 has no 3D annotations, so USABLE = 850 (train 700 + val 150), ~20 s / ~300 frames each.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FFCC00"/>
                </a:solidFill>
                <a:latin typeface="Calibri"/>
              </a:rPr>
              <a:t>▸  </a:t>
            </a:r>
            <a:r>
              <a:rPr sz="2000" b="0" dirty="0">
                <a:solidFill>
                  <a:srgbClr val="1A1410"/>
                </a:solidFill>
                <a:latin typeface="Calibri"/>
              </a:rPr>
              <a:t>7 ring cameras give full 360° coverage + LiDAR + 3D annotations; compute: 3 machines / 108 CPU cores, ~10–12 min per sample (A/B incl.), crash-safe resumable ledger.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FFCC00"/>
                </a:solidFill>
                <a:latin typeface="Calibri"/>
              </a:rPr>
              <a:t>▸  </a:t>
            </a:r>
            <a:r>
              <a:rPr sz="2000" b="0" dirty="0">
                <a:solidFill>
                  <a:srgbClr val="1A1410"/>
                </a:solidFill>
                <a:latin typeface="Calibri"/>
              </a:rPr>
              <a:t>DONE — all 850 usable logs judged: val 101 (67%) + train 454 (65%) = 555 dual-version samples; residual median 6.3%, zero unrecovered failures.</a:t>
            </a:r>
            <a:r>
              <a:rPr sz="2000" b="1" dirty="0">
                <a:solidFill>
                  <a:srgbClr val="990000"/>
                </a:solidFill>
                <a:latin typeface="Calibri"/>
              </a:rPr>
              <a:t/>
            </a:r>
            <a:r>
              <a:rPr sz="2000" b="0" dirty="0">
                <a:solidFill>
                  <a:srgbClr val="1A141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0214-5D29-4440-8E29-FE8D8B824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37D6E2-2874-33F8-3579-4FE4A4380BD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9A734-59C4-171E-22A9-B0705F5D1B3C}"/>
              </a:ext>
            </a:extLst>
          </p:cNvPr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9A6F96-839F-CE35-A8B2-84BD39CCC514}"/>
              </a:ext>
            </a:extLst>
          </p:cNvPr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6541B7F-2B3F-9185-6FDB-9C8012B2C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846" y="914400"/>
            <a:ext cx="8868308" cy="54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621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1424"/>
            <a:ext cx="4297680" cy="36576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97680" y="6821424"/>
            <a:ext cx="7891272" cy="36576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25912" y="635508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90000"/>
                </a:solidFill>
                <a:latin typeface="Calibri"/>
              </a:rPr>
              <a:t>VI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6928"/>
            <a:ext cx="411480" cy="2743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457200"/>
            <a:ext cx="1005840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90000"/>
                </a:solidFill>
                <a:latin typeface="Calibri"/>
              </a:rPr>
              <a:t>PROGRESS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dirty="0">
                <a:solidFill>
                  <a:srgbClr val="990000"/>
                </a:solidFill>
                <a:latin typeface="Calibri"/>
              </a:rPr>
              <a:t>Progress: COMPLETE — 555 samples (val 101 + train 454) · all 850 logs judged</a:t>
            </a:r>
          </a:p>
        </p:txBody>
      </p:sp>
      <p:pic>
        <p:nvPicPr>
          <p:cNvPr id="11" name="Picture 10" descr="downtown_complete_v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271016"/>
            <a:ext cx="4974336" cy="2487168"/>
          </a:xfrm>
          <a:prstGeom prst="rect">
            <a:avLst/>
          </a:prstGeom>
          <a:ln w="12700">
            <a:solidFill>
              <a:srgbClr val="CCC0A8"/>
            </a:solidFill>
          </a:ln>
        </p:spPr>
      </p:pic>
      <p:pic>
        <p:nvPicPr>
          <p:cNvPr id="12" name="Picture 11" descr="bmw_complete_v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1271016"/>
            <a:ext cx="4974336" cy="2487168"/>
          </a:xfrm>
          <a:prstGeom prst="rect">
            <a:avLst/>
          </a:prstGeom>
          <a:ln w="12700">
            <a:solidFill>
              <a:srgbClr val="CCC0A8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53252B-12CB-308B-7CF5-C66E9512B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758184"/>
            <a:ext cx="4974336" cy="248716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45B1CEF-0BE1-1883-31B7-6BB1F4831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3758184"/>
            <a:ext cx="4974336" cy="24871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1424"/>
            <a:ext cx="4297680" cy="36576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97680" y="6821424"/>
            <a:ext cx="7891272" cy="36576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25912" y="635508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90000"/>
                </a:solidFill>
                <a:latin typeface="Calibri"/>
              </a:rPr>
              <a:t>IV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6928"/>
            <a:ext cx="411480" cy="2743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457200"/>
            <a:ext cx="1005840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Calibri"/>
              </a:rPr>
              <a:t>SCENE-BAND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3984"/>
            <a:ext cx="10908792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2800" b="1" dirty="0">
                <a:solidFill>
                  <a:srgbClr val="990000"/>
                </a:solidFill>
                <a:latin typeface="Calibri"/>
              </a:rPr>
              <a:t>S</a:t>
            </a:r>
            <a:r>
              <a:rPr sz="2800" b="1" dirty="0">
                <a:solidFill>
                  <a:srgbClr val="990000"/>
                </a:solidFill>
                <a:latin typeface="Calibri"/>
              </a:rPr>
              <a:t>cene-band: two treatments, one shared mask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1091184"/>
            <a:ext cx="11064240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6000"/>
              </a:lnSpc>
            </a:pPr>
            <a:r>
              <a:rPr sz="1600" b="1" dirty="0">
                <a:solidFill>
                  <a:srgbClr val="990000"/>
                </a:solidFill>
                <a:latin typeface="Calibri"/>
              </a:rPr>
              <a:t>①  Version A </a:t>
            </a:r>
            <a:r>
              <a:rPr sz="1600" b="1" dirty="0" err="1">
                <a:solidFill>
                  <a:srgbClr val="990000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990000"/>
                </a:solidFill>
                <a:latin typeface="Calibri"/>
              </a:rPr>
              <a:t>  </a:t>
            </a:r>
            <a:r>
              <a:rPr sz="1600" b="0" dirty="0">
                <a:solidFill>
                  <a:srgbClr val="1A1410"/>
                </a:solidFill>
                <a:latin typeface="Calibri"/>
              </a:rPr>
              <a:t>— </a:t>
            </a:r>
            <a:r>
              <a:rPr lang="en-US" sz="1400" dirty="0">
                <a:solidFill>
                  <a:srgbClr val="1A1410"/>
                </a:solidFill>
              </a:rPr>
              <a:t> white hood removed, refilled with real road pixels (temporal reprojection + world-BEV). What no camera ever saw — e.g. the lower half of a close-parked truck the hood used to cover — stays honest black.</a:t>
            </a:r>
            <a:r>
              <a:rPr lang="en-US" sz="1400" dirty="0" err="1">
                <a:solidFill>
                  <a:srgbClr val="1A1410"/>
                </a:solidFill>
              </a:rPr>
              <a:t/>
            </a:r>
            <a:r>
              <a:rPr lang="en-US" sz="1400" dirty="0">
                <a:solidFill>
                  <a:srgbClr val="1A1410"/>
                </a:solidFill>
              </a:rPr>
              <a:t/>
            </a:r>
            <a:endParaRPr sz="1400" b="0" dirty="0">
              <a:solidFill>
                <a:srgbClr val="1A1410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5236" y="1669657"/>
            <a:ext cx="11064240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6000"/>
              </a:lnSpc>
            </a:pPr>
            <a:r>
              <a:rPr sz="1600" b="1" dirty="0">
                <a:solidFill>
                  <a:srgbClr val="990000"/>
                </a:solidFill>
                <a:latin typeface="Calibri"/>
              </a:rPr>
              <a:t>②  Version B  </a:t>
            </a:r>
            <a:r>
              <a:rPr sz="1600" b="0" dirty="0">
                <a:solidFill>
                  <a:srgbClr val="1A1410"/>
                </a:solidFill>
                <a:latin typeface="Calibri"/>
              </a:rPr>
              <a:t>—</a:t>
            </a:r>
            <a:r>
              <a:rPr lang="en-US" sz="1400" dirty="0">
                <a:solidFill>
                  <a:srgbClr val="1A1410"/>
                </a:solidFill>
              </a:rPr>
              <a:t>hood region simply blacked out — zero fill. Same windows, same frames as A, masks aligned pixel-for-pixel: a clean A/B pair for training comparison.</a:t>
            </a:r>
            <a:r>
              <a:rPr lang="en-US" sz="1400" dirty="0" err="1">
                <a:solidFill>
                  <a:srgbClr val="1A1410"/>
                </a:solidFill>
              </a:rPr>
              <a:t/>
            </a:r>
            <a:r>
              <a:rPr lang="en-US" sz="1400" dirty="0">
                <a:solidFill>
                  <a:srgbClr val="1A1410"/>
                </a:solidFill>
              </a:rPr>
              <a:t/>
            </a:r>
            <a:endParaRPr sz="1400" b="0" dirty="0">
              <a:solidFill>
                <a:srgbClr val="1A1410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3712" y="2255843"/>
            <a:ext cx="11303508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6000"/>
              </a:lnSpc>
            </a:pPr>
            <a:r>
              <a:rPr sz="1600" b="1" dirty="0">
                <a:solidFill>
                  <a:srgbClr val="990000"/>
                </a:solidFill>
                <a:latin typeface="Calibri"/>
              </a:rPr>
              <a:t>③  Mask contract  </a:t>
            </a:r>
            <a:r>
              <a:rPr sz="1600" b="0" dirty="0">
                <a:solidFill>
                  <a:srgbClr val="1A1410"/>
                </a:solidFill>
                <a:latin typeface="Calibri"/>
              </a:rPr>
              <a:t>— </a:t>
            </a:r>
            <a:r>
              <a:rPr lang="en-US" sz="1600" dirty="0">
                <a:solidFill>
                  <a:srgbClr val="1A1410"/>
                </a:solidFill>
              </a:rPr>
              <a:t>white = strictly real camera pixels; black = model generates (never-seen occlusions, Telea residue, flawed-seam strips, hood region in B). Both versions ship for every sample.</a:t>
            </a:r>
            <a:r>
              <a:rPr lang="en-US" sz="1600" dirty="0" err="1">
                <a:solidFill>
                  <a:srgbClr val="1A1410"/>
                </a:solidFill>
              </a:rPr>
              <a:t/>
            </a:r>
            <a:r>
              <a:rPr lang="en-US" sz="1600" dirty="0">
                <a:solidFill>
                  <a:srgbClr val="1A1410"/>
                </a:solidFill>
              </a:rPr>
              <a:t/>
            </a:r>
            <a:endParaRPr sz="1600" b="0" dirty="0">
              <a:solidFill>
                <a:srgbClr val="1A1410"/>
              </a:solidFill>
              <a:latin typeface="Calibri"/>
            </a:endParaRPr>
          </a:p>
        </p:txBody>
      </p:sp>
      <p:pic>
        <p:nvPicPr>
          <p:cNvPr id="19" name="Picture 18" descr="fig2_bmw_final_pan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000" y="3150000"/>
            <a:ext cx="9100000" cy="1753000"/>
          </a:xfrm>
          <a:prstGeom prst="rect">
            <a:avLst/>
          </a:prstGeom>
          <a:ln w="12700">
            <a:solidFill>
              <a:srgbClr val="CCC0A8"/>
            </a:solidFill>
          </a:ln>
        </p:spPr>
      </p:pic>
      <p:pic>
        <p:nvPicPr>
          <p:cNvPr id="31" name="Picture 30" descr="ab_mas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5000" y="5010000"/>
            <a:ext cx="9100000" cy="1730000"/>
          </a:xfrm>
          <a:prstGeom prst="rect">
            <a:avLst/>
          </a:prstGeom>
          <a:ln w="12700">
            <a:solidFill>
              <a:srgbClr val="CCC0A8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0214-5D29-4440-8E29-FE8D8B824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37D6E2-2874-33F8-3579-4FE4A4380BD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9A734-59C4-171E-22A9-B0705F5D1B3C}"/>
              </a:ext>
            </a:extLst>
          </p:cNvPr>
          <p:cNvSpPr/>
          <p:nvPr/>
        </p:nvSpPr>
        <p:spPr>
          <a:xfrm>
            <a:off x="0" y="0"/>
            <a:ext cx="7315200" cy="6400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9A6F96-839F-CE35-A8B2-84BD39CCC514}"/>
              </a:ext>
            </a:extLst>
          </p:cNvPr>
          <p:cNvSpPr/>
          <p:nvPr/>
        </p:nvSpPr>
        <p:spPr>
          <a:xfrm>
            <a:off x="7315200" y="0"/>
            <a:ext cx="4873752" cy="6400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6541B7F-2B3F-9185-6FDB-9C8012B2C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1830943"/>
            <a:ext cx="11400000" cy="360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621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1300</TotalTime>
  <Words>490</Words>
  <Application>Microsoft Office PowerPoint</Application>
  <PresentationFormat>Widescreen</PresentationFormat>
  <Paragraphs>44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e15042</cp:lastModifiedBy>
  <cp:revision>34</cp:revision>
  <dcterms:created xsi:type="dcterms:W3CDTF">2013-01-27T09:14:16Z</dcterms:created>
  <dcterms:modified xsi:type="dcterms:W3CDTF">2026-06-13T03:56:59Z</dcterms:modified>
  <cp:category/>
</cp:coreProperties>
</file>