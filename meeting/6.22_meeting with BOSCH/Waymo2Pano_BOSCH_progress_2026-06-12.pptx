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AD3"/>
    <a:srgbClr val="FBF6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45" autoAdjust="0"/>
  </p:normalViewPr>
  <p:slideViewPr>
    <p:cSldViewPr snapToGrid="0" snapToObjects="1">
      <p:cViewPr varScale="1">
        <p:scale>
          <a:sx n="142" d="100"/>
          <a:sy n="142" d="100"/>
        </p:scale>
        <p:origin x="978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918B1-1E59-4B3E-8B43-3E94622DDD9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AB084-963C-45AA-838F-C52595E1F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1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65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29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47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86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9F15E-F9A3-C63E-E013-8DE7B67F9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038E9-77E9-F7B7-60A5-AE3DDCAE6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285AC-C550-E6AD-9254-BF4B02E41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00607-0CEC-5963-5C4F-E3CF947E5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92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4AB084-963C-45AA-838F-C52595E1F8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2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0808" y="15014"/>
            <a:ext cx="12191695" cy="6858000"/>
          </a:xfrm>
          <a:prstGeom prst="rect">
            <a:avLst/>
          </a:prstGeom>
          <a:solidFill>
            <a:srgbClr val="6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4297680" cy="4572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793992"/>
            <a:ext cx="7891272" cy="4572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CC00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CC00"/>
                </a:solidFill>
                <a:latin typeface="Calibri"/>
              </a:rPr>
              <a:t>BOSCH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908792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dirty="0">
                <a:solidFill>
                  <a:srgbClr val="FFCC00"/>
                </a:solidFill>
                <a:latin typeface="Calibri"/>
              </a:rPr>
              <a:t>Perspective Images → 360° Panorama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dirty="0">
                <a:solidFill>
                  <a:srgbClr val="FBF6EC"/>
                </a:solidFill>
                <a:latin typeface="Calibri"/>
              </a:rPr>
              <a:t>Progress Update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3822191"/>
            <a:ext cx="822960" cy="109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iamond 10"/>
          <p:cNvSpPr/>
          <p:nvPr/>
        </p:nvSpPr>
        <p:spPr>
          <a:xfrm>
            <a:off x="6035040" y="3758184"/>
            <a:ext cx="118872" cy="118872"/>
          </a:xfrm>
          <a:prstGeom prst="diamond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3822191"/>
            <a:ext cx="822960" cy="109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114800"/>
            <a:ext cx="962863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dirty="0">
                <a:solidFill>
                  <a:srgbClr val="FBF6EC"/>
                </a:solidFill>
                <a:latin typeface="Calibri"/>
              </a:rPr>
              <a:t>From 7 ring-camera images to a complete-sphere ERP panorama (1024×2048)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3208" y="5212080"/>
            <a:ext cx="2011680" cy="502920"/>
          </a:xfrm>
          <a:prstGeom prst="rect">
            <a:avLst/>
          </a:prstGeom>
          <a:noFill/>
          <a:ln w="15875">
            <a:solidFill>
              <a:srgbClr val="FFC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93208" y="529437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FFCC00"/>
                </a:solidFill>
                <a:latin typeface="Calibri"/>
              </a:rPr>
              <a:t>QI PAN</a:t>
            </a:r>
            <a:endParaRPr sz="1400" b="1" dirty="0">
              <a:solidFill>
                <a:srgbClr val="FFCC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4297680" cy="36576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821424"/>
            <a:ext cx="7891272" cy="3657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90000"/>
                </a:solidFill>
                <a:latin typeface="Calibri"/>
              </a:rPr>
              <a:t>II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66928"/>
            <a:ext cx="41148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90000"/>
                </a:solidFill>
                <a:latin typeface="Calibri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dirty="0">
                <a:solidFill>
                  <a:srgbClr val="990000"/>
                </a:solidFill>
                <a:latin typeface="Calibri"/>
              </a:rPr>
              <a:t>Dataset: </a:t>
            </a:r>
            <a:r>
              <a:rPr sz="3000" b="1" dirty="0" err="1">
                <a:solidFill>
                  <a:srgbClr val="990000"/>
                </a:solidFill>
                <a:latin typeface="Calibri"/>
              </a:rPr>
              <a:t>Argoverse</a:t>
            </a:r>
            <a:r>
              <a:rPr sz="3000" b="1" dirty="0">
                <a:solidFill>
                  <a:srgbClr val="990000"/>
                </a:solidFill>
                <a:latin typeface="Calibri"/>
              </a:rPr>
              <a:t> 2 Sensor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36576" cy="12801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1031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dirty="0">
                <a:solidFill>
                  <a:srgbClr val="990000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03580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4A3F33"/>
                </a:solidFill>
                <a:latin typeface="Calibri"/>
              </a:rPr>
              <a:t>RING CAMERAS · FULL 360°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148840"/>
            <a:ext cx="36576" cy="12801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21031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990000"/>
                </a:solidFill>
                <a:latin typeface="Calibri"/>
              </a:rPr>
              <a:t>20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03580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4A3F33"/>
                </a:solidFill>
                <a:latin typeface="Calibri"/>
              </a:rPr>
              <a:t>CAPTURE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148840"/>
            <a:ext cx="36576" cy="12801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21031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990000"/>
                </a:solidFill>
                <a:latin typeface="Calibri"/>
              </a:rPr>
              <a:t>~300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03580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dirty="0">
                <a:solidFill>
                  <a:srgbClr val="4A3F33"/>
                </a:solidFill>
                <a:latin typeface="Calibri"/>
              </a:rPr>
              <a:t>FRAMES PER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10908792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dirty="0">
                <a:solidFill>
                  <a:srgbClr val="FFCC00"/>
                </a:solidFill>
                <a:latin typeface="Calibri"/>
              </a:rPr>
              <a:t>▸  </a:t>
            </a:r>
            <a:r>
              <a:rPr sz="2000" b="0" dirty="0">
                <a:solidFill>
                  <a:srgbClr val="1A1410"/>
                </a:solidFill>
                <a:latin typeface="Calibri"/>
              </a:rPr>
              <a:t>7 ring cameras give full 360° horizontal coverage · 20 Hz · ~300 frames per log.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dirty="0">
                <a:solidFill>
                  <a:srgbClr val="FFCC00"/>
                </a:solidFill>
                <a:latin typeface="Calibri"/>
              </a:rPr>
              <a:t>▸  </a:t>
            </a:r>
            <a:r>
              <a:rPr sz="2000" b="0" dirty="0">
                <a:solidFill>
                  <a:srgbClr val="1A1410"/>
                </a:solidFill>
                <a:latin typeface="Calibri"/>
              </a:rPr>
              <a:t>3D box annotations + LiDAR + per-camera capture timestamps for every frame.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dirty="0">
                <a:solidFill>
                  <a:srgbClr val="1A1410"/>
                </a:solidFill>
                <a:latin typeface="Calibri"/>
              </a:rPr>
              <a:t>Waymo offers two sets, each missing half: Perception = 5 cameras ~250° forward (rear gap) with LiDAR + 3D boxes; End-to-End = 8 cameras full ring, but 10 Hz, 972-px, 1–2° overlap, rolling shutter, camera-only release. </a:t>
            </a:r>
            <a:r>
              <a:rPr sz="2000" b="1" dirty="0">
                <a:solidFill>
                  <a:srgbClr val="990000"/>
                </a:solidFill>
                <a:latin typeface="Calibri"/>
              </a:rPr>
              <a:t>Only AV2 combines full ring + LiDAR + boxes + per-camera timestamps</a:t>
            </a:r>
            <a:r>
              <a:rPr sz="2000" b="0" dirty="0">
                <a:solidFill>
                  <a:srgbClr val="1A1410"/>
                </a:solidFill>
                <a:latin typeface="Calibri"/>
              </a:rPr>
              <a:t>; Waymo migration stays queued as our generalization 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4297680" cy="36576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821424"/>
            <a:ext cx="7891272" cy="3657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90000"/>
                </a:solidFill>
                <a:latin typeface="Calibri"/>
              </a:rPr>
              <a:t>IV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66928"/>
            <a:ext cx="41148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990000"/>
                </a:solidFill>
                <a:latin typeface="Calibri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3984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800" b="1" dirty="0">
                <a:solidFill>
                  <a:srgbClr val="990000"/>
                </a:solidFill>
                <a:latin typeface="Calibri"/>
              </a:rPr>
              <a:t>M</a:t>
            </a:r>
            <a:r>
              <a:rPr sz="2800" b="1" dirty="0">
                <a:solidFill>
                  <a:srgbClr val="990000"/>
                </a:solidFill>
                <a:latin typeface="Calibri"/>
              </a:rPr>
              <a:t>ethod: remove the cause — three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760" y="1091184"/>
            <a:ext cx="1106424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①  Virtual </a:t>
            </a:r>
            <a:r>
              <a:rPr sz="1600" b="1" dirty="0" err="1">
                <a:solidFill>
                  <a:srgbClr val="990000"/>
                </a:solidFill>
                <a:latin typeface="Calibri"/>
              </a:rPr>
              <a:t>centre</a:t>
            </a:r>
            <a:r>
              <a:rPr sz="1600" b="1" dirty="0">
                <a:solidFill>
                  <a:srgbClr val="990000"/>
                </a:solidFill>
                <a:latin typeface="Calibri"/>
              </a:rPr>
              <a:t>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— </a:t>
            </a:r>
            <a:r>
              <a:rPr lang="en-US" sz="1400" dirty="0">
                <a:solidFill>
                  <a:srgbClr val="1A1410"/>
                </a:solidFill>
              </a:rPr>
              <a:t> project from the cameras' own centroid instead of the ego origin, using standard multi-view geometry (intrinsics/</a:t>
            </a:r>
            <a:r>
              <a:rPr lang="en-US" sz="1400" dirty="0" err="1">
                <a:solidFill>
                  <a:srgbClr val="1A1410"/>
                </a:solidFill>
              </a:rPr>
              <a:t>extrinsics</a:t>
            </a:r>
            <a:r>
              <a:rPr lang="en-US" sz="1400" dirty="0">
                <a:solidFill>
                  <a:srgbClr val="1A1410"/>
                </a:solidFill>
              </a:rPr>
              <a:t> ray casting) with per-pixel depth from accumulated LiDAR sweeps → projection residuals drop 18–96× and the seams come into alignment.</a:t>
            </a:r>
            <a:endParaRPr sz="1400" b="0" dirty="0">
              <a:solidFill>
                <a:srgbClr val="1A141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5236" y="1669657"/>
            <a:ext cx="1106424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②  EMC per-camera shutter poses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—</a:t>
            </a:r>
            <a:r>
              <a:rPr lang="en-US" sz="1400" dirty="0">
                <a:solidFill>
                  <a:srgbClr val="1A1410"/>
                </a:solidFill>
              </a:rPr>
              <a:t>per-camera shutter poses — the seven cameras fire up to ±22.5 </a:t>
            </a:r>
            <a:r>
              <a:rPr lang="en-US" sz="1400" dirty="0" err="1">
                <a:solidFill>
                  <a:srgbClr val="1A1410"/>
                </a:solidFill>
              </a:rPr>
              <a:t>ms</a:t>
            </a:r>
            <a:r>
              <a:rPr lang="en-US" sz="1400" dirty="0">
                <a:solidFill>
                  <a:srgbClr val="1A1410"/>
                </a:solidFill>
              </a:rPr>
              <a:t> apart, so each image is projected with the ego pose of its own exposure instant, obtained by SE(3) pose interpolation (quaternion SLERP + linear translation) → the static world aligns exactly.</a:t>
            </a:r>
            <a:endParaRPr sz="1400" b="0" dirty="0">
              <a:solidFill>
                <a:srgbClr val="1A141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3712" y="2255843"/>
            <a:ext cx="11303508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③  One body · one camera · one time (+OMC)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— </a:t>
            </a:r>
            <a:r>
              <a:rPr lang="en-US" sz="1600" dirty="0">
                <a:solidFill>
                  <a:srgbClr val="1A1410"/>
                </a:solidFill>
              </a:rPr>
              <a:t>every moving object is rendered whole from a single camera at a single instant: YOLOv8 instance masks give the outline, the 3D boxes carry its identity across cameras (</a:t>
            </a:r>
            <a:r>
              <a:rPr lang="en-US" sz="1600" dirty="0" err="1">
                <a:solidFill>
                  <a:srgbClr val="1A1410"/>
                </a:solidFill>
              </a:rPr>
              <a:t>IoU</a:t>
            </a:r>
            <a:r>
              <a:rPr lang="en-US" sz="1600" dirty="0">
                <a:solidFill>
                  <a:srgbClr val="1A1410"/>
                </a:solidFill>
              </a:rPr>
              <a:t> association), the residual shutter shift is measured by ECC registration and compensated, and the patch is blended back through view morphing plus a minimum-error DP seam → ghosted / seam-cut cars impossible by construction.</a:t>
            </a:r>
            <a:endParaRPr sz="1600" b="0" dirty="0">
              <a:solidFill>
                <a:srgbClr val="1A1410"/>
              </a:solidFill>
              <a:latin typeface="Calibri"/>
            </a:endParaRPr>
          </a:p>
        </p:txBody>
      </p:sp>
      <p:pic>
        <p:nvPicPr>
          <p:cNvPr id="19" name="Picture 18" descr="fig2_bmw_final_pan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3321102"/>
            <a:ext cx="10607040" cy="3500322"/>
          </a:xfrm>
          <a:prstGeom prst="rect">
            <a:avLst/>
          </a:prstGeom>
          <a:ln w="12700">
            <a:solidFill>
              <a:srgbClr val="CCC0A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4297680" cy="36576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821424"/>
            <a:ext cx="7891272" cy="3657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90000"/>
                </a:solidFill>
                <a:latin typeface="Calibri"/>
              </a:rPr>
              <a:t>V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66928"/>
            <a:ext cx="41148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90000"/>
                </a:solidFill>
                <a:latin typeface="Calibri"/>
              </a:rPr>
              <a:t>COMPLETING THE SPHERE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990000"/>
                </a:solidFill>
                <a:latin typeface="Calibri"/>
              </a:rPr>
              <a:t>Outpainting the missing sphere: ground + sky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1" y="1537163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990000"/>
                </a:solidFill>
                <a:latin typeface="Calibri"/>
              </a:rPr>
              <a:t>GROUND</a:t>
            </a:r>
            <a:r>
              <a:rPr sz="2000" b="0" dirty="0">
                <a:solidFill>
                  <a:srgbClr val="6B6058"/>
                </a:solidFill>
                <a:latin typeface="Calibri"/>
              </a:rPr>
              <a:t>  — real pixels, no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961" y="1948643"/>
            <a:ext cx="5349240" cy="12801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490" y="2062028"/>
            <a:ext cx="5349240" cy="356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INPUT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scene-band panorama + the log's other frames (ego moved).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Method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temporal reprojection — the road under the car now was photographed seconds earlier / later; reproject those real pixels (occlusion-checked).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OUTPUT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nadir filled with 94.5–100% real pixels, lane lines continuous, ego hood removed.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37163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990000"/>
                </a:solidFill>
                <a:latin typeface="Calibri"/>
              </a:rPr>
              <a:t>SKY</a:t>
            </a:r>
            <a:r>
              <a:rPr sz="2000" b="0" dirty="0">
                <a:solidFill>
                  <a:srgbClr val="6B6058"/>
                </a:solidFill>
                <a:latin typeface="Calibri"/>
              </a:rPr>
              <a:t>  — the only generated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48643"/>
            <a:ext cx="5349240" cy="12801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004568"/>
            <a:ext cx="5349240" cy="356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INPUT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panorama + sky mask (the only evidence-free region).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Method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FLUX.1-Fill diffusion inpainting + DiT360 panorama </a:t>
            </a:r>
            <a:r>
              <a:rPr sz="1600" b="0" dirty="0" err="1">
                <a:solidFill>
                  <a:srgbClr val="1A1410"/>
                </a:solidFill>
                <a:latin typeface="Calibri"/>
              </a:rPr>
              <a:t>LoRA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, auto-prompt from the visible sky band (5/5 scenes correct).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990000"/>
                </a:solidFill>
                <a:latin typeface="Calibri"/>
              </a:rPr>
              <a:t>OUTPUT  </a:t>
            </a:r>
            <a:r>
              <a:rPr sz="1600" b="0" dirty="0">
                <a:solidFill>
                  <a:srgbClr val="1A1410"/>
                </a:solidFill>
                <a:latin typeface="Calibri"/>
              </a:rPr>
              <a:t>complete sphere — every pixel outside the mask byte-identical to input.</a:t>
            </a:r>
          </a:p>
        </p:txBody>
      </p:sp>
      <p:pic>
        <p:nvPicPr>
          <p:cNvPr id="17" name="Picture 16" descr="real_flow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27" y="4609782"/>
            <a:ext cx="11789946" cy="20477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0214-5D29-4440-8E29-FE8D8B82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37D6E2-2874-33F8-3579-4FE4A4380BD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09A734-59C4-171E-22A9-B0705F5D1B3C}"/>
              </a:ext>
            </a:extLst>
          </p:cNvPr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A6F96-839F-CE35-A8B2-84BD39CCC514}"/>
              </a:ext>
            </a:extLst>
          </p:cNvPr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6541B7F-2B3F-9185-6FDB-9C8012B2C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401" y="0"/>
            <a:ext cx="4293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2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6400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3752" cy="6400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4297680" cy="36576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6821424"/>
            <a:ext cx="7891272" cy="36576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25912" y="6355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90000"/>
                </a:solidFill>
                <a:latin typeface="Calibri"/>
              </a:rPr>
              <a:t>VI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66928"/>
            <a:ext cx="411480" cy="2743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990000"/>
                </a:solidFill>
                <a:latin typeface="Calibri"/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dirty="0">
                <a:solidFill>
                  <a:srgbClr val="990000"/>
                </a:solidFill>
                <a:latin typeface="Calibri"/>
              </a:rPr>
              <a:t>Current results: complete spheres</a:t>
            </a:r>
          </a:p>
        </p:txBody>
      </p:sp>
      <p:pic>
        <p:nvPicPr>
          <p:cNvPr id="11" name="Picture 10" descr="downtown_complete_v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271016"/>
            <a:ext cx="4974336" cy="2487168"/>
          </a:xfrm>
          <a:prstGeom prst="rect">
            <a:avLst/>
          </a:prstGeom>
          <a:ln w="12700">
            <a:solidFill>
              <a:srgbClr val="CCC0A8"/>
            </a:solidFill>
          </a:ln>
        </p:spPr>
      </p:pic>
      <p:pic>
        <p:nvPicPr>
          <p:cNvPr id="12" name="Picture 11" descr="bmw_complete_v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1271016"/>
            <a:ext cx="4974336" cy="2487168"/>
          </a:xfrm>
          <a:prstGeom prst="rect">
            <a:avLst/>
          </a:prstGeom>
          <a:ln w="12700">
            <a:solidFill>
              <a:srgbClr val="CCC0A8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53252B-12CB-308B-7CF5-C66E9512B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758184"/>
            <a:ext cx="4974336" cy="24871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5B1CEF-0BE1-1883-31B7-6BB1F48313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3758184"/>
            <a:ext cx="4974336" cy="2487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490</Words>
  <Application>Microsoft Office PowerPoint</Application>
  <PresentationFormat>Widescreen</PresentationFormat>
  <Paragraphs>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e15042</cp:lastModifiedBy>
  <cp:revision>34</cp:revision>
  <dcterms:created xsi:type="dcterms:W3CDTF">2013-01-27T09:14:16Z</dcterms:created>
  <dcterms:modified xsi:type="dcterms:W3CDTF">2026-06-13T03:56:59Z</dcterms:modified>
  <cp:category/>
</cp:coreProperties>
</file>