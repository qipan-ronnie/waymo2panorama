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8" r:id="rId6"/>
    <p:sldId id="270"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EAD3"/>
    <a:srgbClr val="FBF6E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3" autoAdjust="0"/>
    <p:restoredTop sz="89460" autoAdjust="0"/>
  </p:normalViewPr>
  <p:slideViewPr>
    <p:cSldViewPr snapToGrid="0" snapToObjects="1">
      <p:cViewPr varScale="1">
        <p:scale>
          <a:sx n="142" d="100"/>
          <a:sy n="142" d="100"/>
        </p:scale>
        <p:origin x="978" y="12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C918B1-1E59-4B3E-8B43-3E94622DDD92}" type="datetimeFigureOut">
              <a:rPr lang="en-US" smtClean="0"/>
              <a:t>6/12/2026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4AB084-963C-45AA-838F-C52595E1F853}" type="slidenum">
              <a:rPr lang="en-US" smtClean="0"/>
              <a:t>‹#›</a:t>
            </a:fld>
            <a:endParaRPr lang="en-US"/>
          </a:p>
        </p:txBody>
      </p:sp>
    </p:spTree>
    <p:extLst>
      <p:ext uri="{BB962C8B-B14F-4D97-AF65-F5344CB8AC3E}">
        <p14:creationId xmlns:p14="http://schemas.microsoft.com/office/powerpoint/2010/main" val="1387014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r>
              <a:rPr lang="en-US" dirty="0"/>
              <a:t>Today I will present Neuron-Guided Attacks on Retrieval-Augmented Generation</a:t>
            </a:r>
            <a:br>
              <a:rPr lang="en-US" dirty="0"/>
            </a:br>
            <a:r>
              <a:rPr lang="en-US" dirty="0"/>
              <a:t>of LLMs via Genetic Optimization of External Knowledge.</a:t>
            </a:r>
          </a:p>
          <a:p>
            <a:r>
              <a:rPr lang="en-US" dirty="0"/>
              <a:t>This is a </a:t>
            </a:r>
            <a:r>
              <a:rPr lang="en-US" dirty="0" err="1"/>
              <a:t>NeurIPS</a:t>
            </a:r>
            <a:r>
              <a:rPr lang="en-US" dirty="0"/>
              <a:t> 2025 paper on attacking </a:t>
            </a:r>
            <a:r>
              <a:rPr lang="en-US" dirty="0" err="1"/>
              <a:t>RAGa</a:t>
            </a:r>
            <a:r>
              <a:rPr lang="en-US" dirty="0"/>
              <a:t>.</a:t>
            </a:r>
          </a:p>
          <a:p>
            <a:r>
              <a:rPr lang="en-US" dirty="0"/>
              <a:t>Basically, The central idea is to use neuron-level signals inside the model to optimize poisoned external knowledge.</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a:t>
            </a:fld>
            <a:endParaRPr lang="en-US"/>
          </a:p>
        </p:txBody>
      </p:sp>
    </p:spTree>
    <p:extLst>
      <p:ext uri="{BB962C8B-B14F-4D97-AF65-F5344CB8AC3E}">
        <p14:creationId xmlns:p14="http://schemas.microsoft.com/office/powerpoint/2010/main" val="444865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Let me start with the paper's main question.</a:t>
            </a:r>
          </a:p>
          <a:p>
            <a:r>
              <a:rPr lang="en-US" dirty="0"/>
              <a:t>2. Even if the model already knows the true answer in parametric memory, can poisoned external knowledge still overwrite it at scale? The paper's answer is yes.</a:t>
            </a:r>
            <a:br>
              <a:rPr lang="en-US" dirty="0"/>
            </a:br>
            <a:r>
              <a:rPr lang="en-US" dirty="0"/>
              <a:t>3. This result is not from one picked model or one easy dataset. It is observed across four open-source LLMs and three QA benchmarks, and the evolved attack pushes overwrite success above ninety percent. I will introduce those models and benchmarks explicitly later in the setup slide.</a:t>
            </a:r>
          </a:p>
          <a:p>
            <a:r>
              <a:rPr lang="en-US" dirty="0"/>
              <a:t>4. The attacker cannot change weights or training data, but does have white-box access to activations and Integrated Gradients at inference time. The goal is to replace the true answer with an attacker-chosen false one, while still keeping the passage fluent and low-perplexity.</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2</a:t>
            </a:fld>
            <a:endParaRPr lang="en-US"/>
          </a:p>
        </p:txBody>
      </p:sp>
    </p:spTree>
    <p:extLst>
      <p:ext uri="{BB962C8B-B14F-4D97-AF65-F5344CB8AC3E}">
        <p14:creationId xmlns:p14="http://schemas.microsoft.com/office/powerpoint/2010/main" val="1429529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figure gives a clean before-and-after view of RAG.</a:t>
            </a:r>
          </a:p>
          <a:p>
            <a:r>
              <a:rPr lang="en-US" dirty="0"/>
              <a:t>2. On the left, the retriever returns benign external knowledge, so the model's response stays aligned with its original internal knowledge. On the right, once the retriever surfaces poisoned external knowledge, that external context can override the model's original belief and steer generation toward a poisoned output.</a:t>
            </a:r>
          </a:p>
          <a:p>
            <a:r>
              <a:rPr lang="en-US" dirty="0"/>
              <a:t>3. So at this stage, the key attack surface is still the retrieved corpus, not the model weights. One caveat matters here: in the paper's experiments, retriever noise is isolated by prompt injection. So this is mainly a generation-side study, not a full end-to-end retrieval attack.</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3</a:t>
            </a:fld>
            <a:endParaRPr lang="en-US"/>
          </a:p>
        </p:txBody>
      </p:sp>
    </p:spTree>
    <p:extLst>
      <p:ext uri="{BB962C8B-B14F-4D97-AF65-F5344CB8AC3E}">
        <p14:creationId xmlns:p14="http://schemas.microsoft.com/office/powerpoint/2010/main" val="11317344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p:cNvSpPr>
            <a:spLocks noGrp="1"/>
          </p:cNvSpPr>
          <p:nvPr>
            <p:ph type="sldNum" sz="quarter" idx="5"/>
          </p:nvPr>
        </p:nvSpPr>
        <p:spPr/>
        <p:txBody>
          <a:bodyPr/>
          <a:lstStyle/>
          <a:p>
            <a:fld id="{FC4AB084-963C-45AA-838F-C52595E1F853}" type="slidenum">
              <a:rPr lang="en-US" smtClean="0"/>
              <a:t>4</a:t>
            </a:fld>
            <a:endParaRPr lang="en-US"/>
          </a:p>
        </p:txBody>
      </p:sp>
    </p:spTree>
    <p:extLst>
      <p:ext uri="{BB962C8B-B14F-4D97-AF65-F5344CB8AC3E}">
        <p14:creationId xmlns:p14="http://schemas.microsoft.com/office/powerpoint/2010/main" val="1014147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E053E-B12C-45F4-B082-1EFB746384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E2AF1F-2413-140A-1CE5-44620641DF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CA5BBC-D6E9-21B3-6DCF-F59D542D966E}"/>
              </a:ext>
            </a:extLst>
          </p:cNvPr>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a:extLst>
              <a:ext uri="{FF2B5EF4-FFF2-40B4-BE49-F238E27FC236}">
                <a16:creationId xmlns:a16="http://schemas.microsoft.com/office/drawing/2014/main" id="{E68CE6D3-DEC4-DDC0-2AE1-7395654BED23}"/>
              </a:ext>
            </a:extLst>
          </p:cNvPr>
          <p:cNvSpPr>
            <a:spLocks noGrp="1"/>
          </p:cNvSpPr>
          <p:nvPr>
            <p:ph type="sldNum" sz="quarter" idx="5"/>
          </p:nvPr>
        </p:nvSpPr>
        <p:spPr/>
        <p:txBody>
          <a:bodyPr/>
          <a:lstStyle/>
          <a:p>
            <a:fld id="{FC4AB084-963C-45AA-838F-C52595E1F853}" type="slidenum">
              <a:rPr lang="en-US" smtClean="0"/>
              <a:t>5</a:t>
            </a:fld>
            <a:endParaRPr lang="en-US"/>
          </a:p>
        </p:txBody>
      </p:sp>
    </p:spTree>
    <p:extLst>
      <p:ext uri="{BB962C8B-B14F-4D97-AF65-F5344CB8AC3E}">
        <p14:creationId xmlns:p14="http://schemas.microsoft.com/office/powerpoint/2010/main" val="2292143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78857-CD06-01CC-0A5D-481996F201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A40C6-71AA-A231-ECF8-754A6F258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4883AB-6740-4586-A1BA-964E05EF0CAA}"/>
              </a:ext>
            </a:extLst>
          </p:cNvPr>
          <p:cNvSpPr>
            <a:spLocks noGrp="1"/>
          </p:cNvSpPr>
          <p:nvPr>
            <p:ph type="body" idx="1"/>
          </p:nvPr>
        </p:nvSpPr>
        <p:spPr/>
        <p:txBody>
          <a:bodyPr/>
          <a:lstStyle/>
          <a:p>
            <a:r>
              <a:rPr lang="en-US" dirty="0"/>
              <a:t>1. This slide positions the paper against prior attacks.</a:t>
            </a:r>
          </a:p>
          <a:p>
            <a:r>
              <a:rPr lang="en-US" dirty="0"/>
              <a:t>2. </a:t>
            </a:r>
            <a:r>
              <a:rPr lang="en-US" dirty="0" err="1"/>
              <a:t>PoisonedRAG</a:t>
            </a:r>
            <a:r>
              <a:rPr lang="en-US" dirty="0"/>
              <a:t> is the main experimental compared baseline, but it does not use neuron information. </a:t>
            </a:r>
            <a:r>
              <a:rPr lang="en-US" dirty="0" err="1"/>
              <a:t>AutoDAN</a:t>
            </a:r>
            <a:r>
              <a:rPr lang="en-US" dirty="0"/>
              <a:t> also uses a genetic algorithm, but at the prompt level rather than the external-knowledge level. GCG uses gradients, but mostly for short token triggers.</a:t>
            </a:r>
          </a:p>
          <a:p>
            <a:r>
              <a:rPr lang="en-US" dirty="0"/>
              <a:t>3. So the novelty here is the combination: genetic optimization, explicit knowledge-conflict handling, and neuron-guided signals. </a:t>
            </a:r>
          </a:p>
        </p:txBody>
      </p:sp>
      <p:sp>
        <p:nvSpPr>
          <p:cNvPr id="4" name="Slide Number Placeholder 3">
            <a:extLst>
              <a:ext uri="{FF2B5EF4-FFF2-40B4-BE49-F238E27FC236}">
                <a16:creationId xmlns:a16="http://schemas.microsoft.com/office/drawing/2014/main" id="{128A0BD0-6E0C-A88C-BA97-D8AC0CBBFB05}"/>
              </a:ext>
            </a:extLst>
          </p:cNvPr>
          <p:cNvSpPr>
            <a:spLocks noGrp="1"/>
          </p:cNvSpPr>
          <p:nvPr>
            <p:ph type="sldNum" sz="quarter" idx="5"/>
          </p:nvPr>
        </p:nvSpPr>
        <p:spPr/>
        <p:txBody>
          <a:bodyPr/>
          <a:lstStyle/>
          <a:p>
            <a:fld id="{FC4AB084-963C-45AA-838F-C52595E1F853}" type="slidenum">
              <a:rPr lang="en-US" smtClean="0"/>
              <a:t>6</a:t>
            </a:fld>
            <a:endParaRPr lang="en-US"/>
          </a:p>
        </p:txBody>
      </p:sp>
    </p:spTree>
    <p:extLst>
      <p:ext uri="{BB962C8B-B14F-4D97-AF65-F5344CB8AC3E}">
        <p14:creationId xmlns:p14="http://schemas.microsoft.com/office/powerpoint/2010/main" val="30639183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showed that existing attacks can poison external knowledge, but they do not really explain what happens when that external knowledge conflicts with strong parametric memory. This slide is the paper's answer to that gap.</a:t>
            </a:r>
          </a:p>
          <a:p>
            <a:r>
              <a:rPr lang="en-US" dirty="0"/>
              <a:t>2. POSR here means Population Overwrite Success Rate. For one query, among the whole population of poisoned passages, how many actually flip the model to the attacker-chosen wrong answer.</a:t>
            </a:r>
          </a:p>
          <a:p>
            <a:r>
              <a:rPr lang="en-US" dirty="0"/>
              <a:t>3. Now the three numbers tell the story. At initialization, about seventy percent of queries are stuck in the middle, around forty to fifty percent POSR. That means the fake knowledge has some influence, but it is not strong enough to override the model reliably. Some queries fail completely at zero percent. Only after optimization do most queries rise above ninety percent.</a:t>
            </a:r>
          </a:p>
          <a:p>
            <a:r>
              <a:rPr lang="en-US" dirty="0"/>
              <a:t>4. So the bottleneck is not just writing any misleading passage. The harder part is overcoming the model's internal memory. That is why the next two slides focus on neuron-guided optimization: the method tries to rescue those borderline failures rather than treating all failures the same.</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7</a:t>
            </a:fld>
            <a:endParaRPr lang="en-US"/>
          </a:p>
        </p:txBody>
      </p:sp>
    </p:spTree>
    <p:extLst>
      <p:ext uri="{BB962C8B-B14F-4D97-AF65-F5344CB8AC3E}">
        <p14:creationId xmlns:p14="http://schemas.microsoft.com/office/powerpoint/2010/main" val="2298786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argued that knowledge conflict is the real bottleneck. This slide shows the paper’s methodology turning that bottleneck into a usable signal.</a:t>
            </a:r>
          </a:p>
          <a:p>
            <a:r>
              <a:rPr lang="en-US" dirty="0"/>
              <a:t>2. On the left, Figure 2 gives the intuition. Earlier RAG poisoning attacks can already write misleading passages, but when the model has strong internal knowledge, many of those passages still fail to flip the answer.</a:t>
            </a:r>
          </a:p>
          <a:p>
            <a:r>
              <a:rPr lang="en-US" dirty="0"/>
              <a:t>3. So the question is no longer just how to write poison. The deeper question is: where inside the model does poisoned context actually start to win?</a:t>
            </a:r>
          </a:p>
          <a:p>
            <a:r>
              <a:rPr lang="en-US" dirty="0"/>
              <a:t>4. That is what Poison-Responsive Neurons, or PRNs, are for. PRNs are the neurons whose activations change the most when poisoned retrieved context is present.</a:t>
            </a:r>
          </a:p>
          <a:p>
            <a:r>
              <a:rPr lang="en-US" dirty="0"/>
              <a:t>5. They are not the attack itself. They are the internal markers of where poisoned context is getting traction inside the model.</a:t>
            </a:r>
          </a:p>
          <a:p>
            <a:r>
              <a:rPr lang="en-US" dirty="0"/>
              <a:t>6. On the right is how the paper computes them. The baseline x-prime is query only, and x is query plus retrieved context.</a:t>
            </a:r>
          </a:p>
          <a:p>
            <a:r>
              <a:rPr lang="en-US" dirty="0"/>
              <a:t>7. Integrated Gradients then measures how much each neuron's activation changes after we add the retrieved context on top of the query-only baseline. For each sample, the method keeps the top-k most responsive neurons, and then aggregates them across samples into a reusable global top-r PRN set.</a:t>
            </a:r>
          </a:p>
          <a:p>
            <a:r>
              <a:rPr lang="en-US" dirty="0"/>
              <a:t>8. So Poison Responsive Neurons does not generate poisoned passages yet. It first extracts a compact internal target, and the next slide shows how the genetic algorithm optimizes passages against that target.</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8</a:t>
            </a:fld>
            <a:endParaRPr lang="en-US"/>
          </a:p>
        </p:txBody>
      </p:sp>
    </p:spTree>
    <p:extLst>
      <p:ext uri="{BB962C8B-B14F-4D97-AF65-F5344CB8AC3E}">
        <p14:creationId xmlns:p14="http://schemas.microsoft.com/office/powerpoint/2010/main" val="31229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is how the genetic optimization works.</a:t>
            </a:r>
          </a:p>
          <a:p>
            <a:r>
              <a:rPr lang="en-US" dirty="0"/>
              <a:t>2. Instead of trying to craft one perfect poisoned passage, the attack evolves a whole population of passages. The author used GPT-4 to initialize that population with realistic-looking misinformation that already contains the target wrong answer, in styles such as Wikipedia articles, news reports, or academic summaries. </a:t>
            </a:r>
          </a:p>
          <a:p>
            <a:r>
              <a:rPr lang="en-US" dirty="0"/>
              <a:t>3. Then each candidate is scored by the Poison-Responsiveness Score over the selected top-r neurons. Crossover and mutation generate new candidates, and selection keeps the highest-fitness offspring. This is the key reason the method can rescue weak but promising seeds instead of treating every failure the same way.</a:t>
            </a:r>
          </a:p>
          <a:p>
            <a:r>
              <a:rPr lang="en-US" dirty="0"/>
              <a:t>4. The bottom row makes the process more concrete. In the Appendix shows optimized examples. Here I use the iTunes example: the target wrong answer is Linux and Android devices, the optimized passage frames that claim as a </a:t>
            </a:r>
            <a:r>
              <a:rPr lang="en-US" dirty="0" err="1"/>
              <a:t>TechNews</a:t>
            </a:r>
            <a:r>
              <a:rPr lang="en-US" dirty="0"/>
              <a:t>-style report, and the final model output follows the poisoned passage.</a:t>
            </a:r>
          </a:p>
          <a:p>
            <a:r>
              <a:rPr lang="en-US" dirty="0"/>
              <a:t>5. So the takeaway from this slide is that Method I provides the internal target, and Method II uses genetic search to turn that target into a large pool of effective  poisoned passages.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9</a:t>
            </a:fld>
            <a:endParaRPr lang="en-US"/>
          </a:p>
        </p:txBody>
      </p:sp>
    </p:spTree>
    <p:extLst>
      <p:ext uri="{BB962C8B-B14F-4D97-AF65-F5344CB8AC3E}">
        <p14:creationId xmlns:p14="http://schemas.microsoft.com/office/powerpoint/2010/main" val="117256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For evaluation, the paper uses four open-source LLMs they are LLaMA-2-7B-chat · Vicuna-7B v1.5 · Vicuna-13B v1.5 · Gemma-7B, three QA datasets , </a:t>
            </a:r>
            <a:r>
              <a:rPr lang="en-US" dirty="0" err="1"/>
              <a:t>SQuAD</a:t>
            </a:r>
            <a:r>
              <a:rPr lang="en-US" dirty="0"/>
              <a:t> 2.0 · </a:t>
            </a:r>
            <a:r>
              <a:rPr lang="en-US" dirty="0" err="1"/>
              <a:t>TriviaQA</a:t>
            </a:r>
            <a:r>
              <a:rPr lang="en-US" dirty="0"/>
              <a:t> · WikiQA , and ten generations of search on A100 GPUs.</a:t>
            </a:r>
          </a:p>
          <a:p>
            <a:r>
              <a:rPr lang="en-US" dirty="0"/>
              <a:t>2. The main metric is POSR, Population Overwrite Success Rate, which measures the fraction of passages that flip the model to the target false answer.</a:t>
            </a:r>
          </a:p>
          <a:p>
            <a:r>
              <a:rPr lang="en-US" dirty="0"/>
              <a:t>3. Stealthiness is tracked with perplexity.</a:t>
            </a:r>
          </a:p>
          <a:p>
            <a:r>
              <a:rPr lang="en-US" dirty="0"/>
              <a:t>4. And the main comparison baseline is </a:t>
            </a:r>
            <a:r>
              <a:rPr lang="en-US" dirty="0" err="1"/>
              <a:t>PoisonedRAG</a:t>
            </a:r>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10</a:t>
            </a:fld>
            <a:endParaRPr lang="en-US"/>
          </a:p>
        </p:txBody>
      </p:sp>
    </p:spTree>
    <p:extLst>
      <p:ext uri="{BB962C8B-B14F-4D97-AF65-F5344CB8AC3E}">
        <p14:creationId xmlns:p14="http://schemas.microsoft.com/office/powerpoint/2010/main" val="3666702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This slide shows the main result from Table 1 across three datasets and four models.</a:t>
            </a:r>
          </a:p>
          <a:p>
            <a:r>
              <a:rPr lang="en-US" dirty="0"/>
              <a:t>2. The initial GPT-4 seeds are only moderately effective, with Initial POSR around 0.41 to 0.48. After the neuron-guided genetic optimization, Final POSR rises to about 0.88 to 0.95. That is the main pattern.</a:t>
            </a:r>
          </a:p>
          <a:p>
            <a:r>
              <a:rPr lang="en-US" dirty="0"/>
              <a:t>3. By comparison, </a:t>
            </a:r>
            <a:r>
              <a:rPr lang="en-US" dirty="0" err="1"/>
              <a:t>PoisonedRAG</a:t>
            </a:r>
            <a:r>
              <a:rPr lang="en-US" dirty="0"/>
              <a:t>, the compared baseline, stays much lower, mostly around 0.49 to 0.62. So the improvement is not only large, but also very consistent across all twelve dataset-model pairs.</a:t>
            </a:r>
          </a:p>
          <a:p>
            <a:r>
              <a:rPr lang="en-US" dirty="0"/>
              <a:t>4. The Relative Perplexity Drop is also modest, which means the optimized passages do not become less natural. If anything, they often become slightly more fluent.</a:t>
            </a:r>
          </a:p>
          <a:p>
            <a:r>
              <a:rPr lang="en-US" dirty="0"/>
              <a:t>5. One thing to keep in mind is that this table reports POSR at the population level. The next slide switches to ASR under the same initialized templates, which is a stricter comparison.</a:t>
            </a:r>
          </a:p>
          <a:p>
            <a:endParaRPr lang="en-US" dirty="0"/>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11</a:t>
            </a:fld>
            <a:endParaRPr lang="en-US"/>
          </a:p>
        </p:txBody>
      </p:sp>
    </p:spTree>
    <p:extLst>
      <p:ext uri="{BB962C8B-B14F-4D97-AF65-F5344CB8AC3E}">
        <p14:creationId xmlns:p14="http://schemas.microsoft.com/office/powerpoint/2010/main" val="32008136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previous slide was the paper's main result under POSR, which is a population-level metric. </a:t>
            </a:r>
          </a:p>
          <a:p>
            <a:r>
              <a:rPr lang="en-US" dirty="0"/>
              <a:t>2. This slide asks a stricter follow-up question: if we start from the same initialized templates as </a:t>
            </a:r>
            <a:r>
              <a:rPr lang="en-US" dirty="0" err="1"/>
              <a:t>PoisonedRAG</a:t>
            </a:r>
            <a:r>
              <a:rPr lang="en-US" dirty="0"/>
              <a:t> and look at ASR instead, does the paper’s method still remain competitive?</a:t>
            </a:r>
          </a:p>
          <a:p>
            <a:r>
              <a:rPr lang="en-US" dirty="0"/>
              <a:t>3. Here the paper starts from the same initialized templates as </a:t>
            </a:r>
            <a:r>
              <a:rPr lang="en-US" dirty="0" err="1"/>
              <a:t>PoisonedRAG</a:t>
            </a:r>
            <a:r>
              <a:rPr lang="en-US" dirty="0"/>
              <a:t>.</a:t>
            </a:r>
          </a:p>
          <a:p>
            <a:r>
              <a:rPr lang="en-US" dirty="0"/>
              <a:t>4. Even under this stricter setup, paper’s method still matches or slightly exceeds </a:t>
            </a:r>
            <a:r>
              <a:rPr lang="en-US" dirty="0" err="1"/>
              <a:t>PoisonedRAG</a:t>
            </a:r>
            <a:r>
              <a:rPr lang="en-US" dirty="0"/>
              <a:t> across the four models. </a:t>
            </a:r>
          </a:p>
          <a:p>
            <a:r>
              <a:rPr lang="en-US" dirty="0"/>
              <a:t>5. So the benefit is not only higher average population success. The method is also competitive when both attacks start from the same templates, and it stays stable for different values of r.</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12</a:t>
            </a:fld>
            <a:endParaRPr lang="en-US"/>
          </a:p>
        </p:txBody>
      </p:sp>
    </p:spTree>
    <p:extLst>
      <p:ext uri="{BB962C8B-B14F-4D97-AF65-F5344CB8AC3E}">
        <p14:creationId xmlns:p14="http://schemas.microsoft.com/office/powerpoint/2010/main" val="41777749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this work?</a:t>
            </a:r>
          </a:p>
          <a:p>
            <a:r>
              <a:rPr lang="en-US" dirty="0"/>
              <a:t>1. Figures 2 and 3 give the paper's answer. Figure 2, on the top, shows the behavioral side: as genetic optimization proceeds, POSR keeps rising across generations. More and more queries move from partial overwrite toward consistently successful overwrite.</a:t>
            </a:r>
          </a:p>
          <a:p>
            <a:r>
              <a:rPr lang="en-US" dirty="0"/>
              <a:t>2. Figure 3, shows the internal side: the Poison-Responsiveness Score, also rises across generations. </a:t>
            </a:r>
          </a:p>
          <a:p>
            <a:r>
              <a:rPr lang="en-US" dirty="0"/>
              <a:t>3. These two trends rise together. So the genetic algorithm is not just wandering through text space randomly. It is being guided by a neuron-level signal that closely tracks attack success.</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13</a:t>
            </a:fld>
            <a:endParaRPr lang="en-US"/>
          </a:p>
        </p:txBody>
      </p:sp>
    </p:spTree>
    <p:extLst>
      <p:ext uri="{BB962C8B-B14F-4D97-AF65-F5344CB8AC3E}">
        <p14:creationId xmlns:p14="http://schemas.microsoft.com/office/powerpoint/2010/main" val="29452102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The ablation also matters.</a:t>
            </a:r>
          </a:p>
          <a:p>
            <a:r>
              <a:rPr lang="en-US" dirty="0"/>
              <a:t>2. Here, GA-PRS and GA-Sim use the same genetic algorithm setting. The only difference is the fitness function.</a:t>
            </a:r>
          </a:p>
          <a:p>
            <a:r>
              <a:rPr lang="en-US" dirty="0"/>
              <a:t>3. GA-Sim is the similarity-guided variant. It scores each candidate passage by the cosine similarity between the query and the candidate external knowledge, so it does not use any neuron signal.</a:t>
            </a:r>
          </a:p>
          <a:p>
            <a:r>
              <a:rPr lang="en-US" dirty="0"/>
              <a:t>4. GA-PRS is the full neuron-guided variant. It scores each candidate by the Poison-Responsiveness Score over the selected top-r Poison-Responsive Neurons.</a:t>
            </a:r>
          </a:p>
          <a:p>
            <a:r>
              <a:rPr lang="en-US" dirty="0"/>
              <a:t>5. Across all four models, GA-PRS keeps improving and reaches above 90 percent by generation 10, while GA-Sim stays around 40 to 50 percent with little progress.</a:t>
            </a:r>
          </a:p>
          <a:p>
            <a:r>
              <a:rPr lang="en-US" dirty="0"/>
              <a:t>6. So the takeaway is that GA alone is not enough. In this ablation, the neuron-guided fitness is the main driver of the gain.</a:t>
            </a:r>
          </a:p>
          <a:p>
            <a:endParaRPr lang="en-US" dirty="0"/>
          </a:p>
        </p:txBody>
      </p:sp>
      <p:sp>
        <p:nvSpPr>
          <p:cNvPr id="4" name="Slide Number Placeholder 3"/>
          <p:cNvSpPr>
            <a:spLocks noGrp="1"/>
          </p:cNvSpPr>
          <p:nvPr>
            <p:ph type="sldNum" sz="quarter" idx="5"/>
          </p:nvPr>
        </p:nvSpPr>
        <p:spPr/>
        <p:txBody>
          <a:bodyPr/>
          <a:lstStyle/>
          <a:p>
            <a:fld id="{FC4AB084-963C-45AA-838F-C52595E1F853}" type="slidenum">
              <a:rPr lang="en-US" smtClean="0"/>
              <a:t>14</a:t>
            </a:fld>
            <a:endParaRPr lang="en-US"/>
          </a:p>
        </p:txBody>
      </p:sp>
    </p:spTree>
    <p:extLst>
      <p:ext uri="{BB962C8B-B14F-4D97-AF65-F5344CB8AC3E}">
        <p14:creationId xmlns:p14="http://schemas.microsoft.com/office/powerpoint/2010/main" val="19431577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6E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793992"/>
            <a:ext cx="4297680" cy="4572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793992"/>
            <a:ext cx="7891272" cy="457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FFCC00"/>
                </a:solidFill>
                <a:latin typeface="Calibri"/>
              </a:rPr>
              <a:t>I</a:t>
            </a:r>
          </a:p>
        </p:txBody>
      </p:sp>
      <p:sp>
        <p:nvSpPr>
          <p:cNvPr id="8" name="TextBox 7"/>
          <p:cNvSpPr txBox="1"/>
          <p:nvPr/>
        </p:nvSpPr>
        <p:spPr>
          <a:xfrm>
            <a:off x="0" y="96012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BOSCH RESEARCH SYNC  ·  2026-06-12</a:t>
            </a:r>
          </a:p>
        </p:txBody>
      </p:sp>
      <p:sp>
        <p:nvSpPr>
          <p:cNvPr id="9" name="TextBox 8"/>
          <p:cNvSpPr txBox="1"/>
          <p:nvPr/>
        </p:nvSpPr>
        <p:spPr>
          <a:xfrm>
            <a:off x="457200" y="1783080"/>
            <a:ext cx="11274552" cy="1371600"/>
          </a:xfrm>
          <a:prstGeom prst="rect">
            <a:avLst/>
          </a:prstGeom>
          <a:noFill/>
        </p:spPr>
        <p:txBody>
          <a:bodyPr wrap="square" lIns="0" tIns="0" rIns="0" bIns="0" anchor="t">
            <a:noAutofit/>
          </a:bodyPr>
          <a:lstStyle/>
          <a:p>
            <a:pPr algn="ctr">
              <a:lnSpc>
                <a:spcPct val="100000"/>
              </a:lnSpc>
              <a:spcBef>
                <a:spcPts val="0"/>
              </a:spcBef>
              <a:spcAft>
                <a:spcPts val="200"/>
              </a:spcAft>
            </a:pPr>
            <a:r>
              <a:rPr sz="5200" b="1">
                <a:solidFill>
                  <a:srgbClr val="FFCC00"/>
                </a:solidFill>
                <a:latin typeface="Calibri"/>
              </a:rPr>
              <a:t>Perspective Images → 360° Panorama</a:t>
            </a:r>
          </a:p>
        </p:txBody>
      </p:sp>
      <p:sp>
        <p:nvSpPr>
          <p:cNvPr id="10" name="Rectangle 9"/>
          <p:cNvSpPr/>
          <p:nvPr/>
        </p:nvSpPr>
        <p:spPr>
          <a:xfrm>
            <a:off x="521208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Diamond 10"/>
          <p:cNvSpPr/>
          <p:nvPr/>
        </p:nvSpPr>
        <p:spPr>
          <a:xfrm>
            <a:off x="6080760" y="3246120"/>
            <a:ext cx="118872" cy="118872"/>
          </a:xfrm>
          <a:prstGeom prst="diamond">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63640" y="3310128"/>
            <a:ext cx="82296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80160" y="3611880"/>
            <a:ext cx="9628632" cy="1005840"/>
          </a:xfrm>
          <a:prstGeom prst="rect">
            <a:avLst/>
          </a:prstGeom>
          <a:noFill/>
        </p:spPr>
        <p:txBody>
          <a:bodyPr wrap="square" lIns="0" tIns="0" rIns="0" bIns="0" anchor="t">
            <a:noAutofit/>
          </a:bodyPr>
          <a:lstStyle/>
          <a:p>
            <a:pPr algn="ctr">
              <a:lnSpc>
                <a:spcPct val="115000"/>
              </a:lnSpc>
              <a:spcBef>
                <a:spcPts val="0"/>
              </a:spcBef>
              <a:spcAft>
                <a:spcPts val="200"/>
              </a:spcAft>
            </a:pPr>
            <a:r>
              <a:rPr sz="1700" b="0">
                <a:solidFill>
                  <a:srgbClr val="FBF6EC"/>
                </a:solidFill>
                <a:latin typeface="Calibri"/>
              </a:rPr>
              <a:t>A general multi-camera pipeline from AV ring cameras to a complete-sphere ERP panorama — source-faithful, evidence-gated.</a:t>
            </a:r>
          </a:p>
        </p:txBody>
      </p:sp>
      <p:sp>
        <p:nvSpPr>
          <p:cNvPr id="14" name="Rectangle 13"/>
          <p:cNvSpPr/>
          <p:nvPr/>
        </p:nvSpPr>
        <p:spPr>
          <a:xfrm>
            <a:off x="5093208" y="5074920"/>
            <a:ext cx="2011680" cy="502920"/>
          </a:xfrm>
          <a:prstGeom prst="rect">
            <a:avLst/>
          </a:prstGeom>
          <a:noFill/>
          <a:ln w="15875">
            <a:solidFill>
              <a:srgbClr val="FFCC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93208" y="5157216"/>
            <a:ext cx="2011680" cy="365760"/>
          </a:xfrm>
          <a:prstGeom prst="rect">
            <a:avLst/>
          </a:prstGeom>
          <a:noFill/>
        </p:spPr>
        <p:txBody>
          <a:bodyPr wrap="square" lIns="0" tIns="0" rIns="0" bIns="0" anchor="t">
            <a:noAutofit/>
          </a:bodyPr>
          <a:lstStyle/>
          <a:p>
            <a:pPr algn="ctr">
              <a:lnSpc>
                <a:spcPct val="100000"/>
              </a:lnSpc>
              <a:spcBef>
                <a:spcPts val="0"/>
              </a:spcBef>
              <a:spcAft>
                <a:spcPts val="200"/>
              </a:spcAft>
            </a:pPr>
            <a:r>
              <a:rPr sz="1400" b="1">
                <a:solidFill>
                  <a:srgbClr val="FFCC00"/>
                </a:solidFill>
                <a:latin typeface="Calibri"/>
              </a:rPr>
              <a:t>JINGSHUO</a:t>
            </a:r>
          </a:p>
        </p:txBody>
      </p:sp>
      <p:sp>
        <p:nvSpPr>
          <p:cNvPr id="16" name="TextBox 15"/>
          <p:cNvSpPr txBox="1"/>
          <p:nvPr/>
        </p:nvSpPr>
        <p:spPr>
          <a:xfrm>
            <a:off x="0" y="5806440"/>
            <a:ext cx="12191695" cy="365760"/>
          </a:xfrm>
          <a:prstGeom prst="rect">
            <a:avLst/>
          </a:prstGeom>
          <a:noFill/>
        </p:spPr>
        <p:txBody>
          <a:bodyPr wrap="square" lIns="0" tIns="0" rIns="0" bIns="0" anchor="t">
            <a:noAutofit/>
          </a:bodyPr>
          <a:lstStyle/>
          <a:p>
            <a:pPr algn="ctr">
              <a:lnSpc>
                <a:spcPct val="100000"/>
              </a:lnSpc>
              <a:spcBef>
                <a:spcPts val="0"/>
              </a:spcBef>
              <a:spcAft>
                <a:spcPts val="200"/>
              </a:spcAft>
            </a:pPr>
            <a:r>
              <a:rPr sz="1200" b="0">
                <a:solidFill>
                  <a:srgbClr val="FBF6EC"/>
                </a:solidFill>
                <a:latin typeface="Calibri"/>
              </a:rPr>
              <a:t>Presenter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OPENING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The task — and why Argoverse 2</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07492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GOAL</a:t>
            </a:r>
          </a:p>
        </p:txBody>
      </p:sp>
      <p:sp>
        <p:nvSpPr>
          <p:cNvPr id="13" name="Rectangle 12"/>
          <p:cNvSpPr/>
          <p:nvPr/>
        </p:nvSpPr>
        <p:spPr>
          <a:xfrm>
            <a:off x="640080" y="2395728"/>
            <a:ext cx="507492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542032"/>
            <a:ext cx="5074920" cy="2011680"/>
          </a:xfrm>
          <a:prstGeom prst="rect">
            <a:avLst/>
          </a:prstGeom>
          <a:noFill/>
        </p:spPr>
        <p:txBody>
          <a:bodyPr wrap="square" lIns="0" tIns="0" rIns="0" bIns="0" anchor="t">
            <a:noAutofit/>
          </a:bodyPr>
          <a:lstStyle/>
          <a:p>
            <a:pPr algn="l">
              <a:lnSpc>
                <a:spcPct val="112000"/>
              </a:lnSpc>
              <a:spcBef>
                <a:spcPts val="0"/>
              </a:spcBef>
              <a:spcAft>
                <a:spcPts val="1000"/>
              </a:spcAft>
            </a:pPr>
            <a:r>
              <a:rPr sz="1400" b="1" dirty="0">
                <a:solidFill>
                  <a:srgbClr val="FFCC00"/>
                </a:solidFill>
                <a:latin typeface="Calibri"/>
              </a:rPr>
              <a:t>▸  </a:t>
            </a:r>
            <a:r>
              <a:rPr sz="1400" b="0" dirty="0">
                <a:solidFill>
                  <a:srgbClr val="1A1410"/>
                </a:solidFill>
                <a:latin typeface="Calibri"/>
              </a:rPr>
              <a:t>N synchronized perspective cameras → one 1024×2048 ERP 360° panorama</a:t>
            </a:r>
          </a:p>
        </p:txBody>
      </p:sp>
      <p:sp>
        <p:nvSpPr>
          <p:cNvPr id="15" name="Rectangle 14"/>
          <p:cNvSpPr/>
          <p:nvPr/>
        </p:nvSpPr>
        <p:spPr>
          <a:xfrm>
            <a:off x="5989320" y="2057400"/>
            <a:ext cx="269748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989320" y="2057400"/>
            <a:ext cx="54864" cy="3611880"/>
          </a:xfrm>
          <a:prstGeom prst="rect">
            <a:avLst/>
          </a:prstGeom>
          <a:solidFill>
            <a:srgbClr val="6B60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72200" y="2194560"/>
            <a:ext cx="237744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WAYMO OPEN DATASET</a:t>
            </a:r>
          </a:p>
        </p:txBody>
      </p:sp>
      <p:sp>
        <p:nvSpPr>
          <p:cNvPr id="18" name="TextBox 17"/>
          <p:cNvSpPr txBox="1"/>
          <p:nvPr/>
        </p:nvSpPr>
        <p:spPr>
          <a:xfrm>
            <a:off x="6172200" y="2542032"/>
            <a:ext cx="237744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5 cameras</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~250° forward arc</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rear gap</a:t>
            </a:r>
          </a:p>
          <a:p>
            <a:pPr algn="l">
              <a:lnSpc>
                <a:spcPct val="110000"/>
              </a:lnSpc>
              <a:spcBef>
                <a:spcPts val="0"/>
              </a:spcBef>
              <a:spcAft>
                <a:spcPts val="700"/>
              </a:spcAft>
            </a:pPr>
            <a:r>
              <a:rPr sz="1250" b="1">
                <a:solidFill>
                  <a:srgbClr val="FFCC00"/>
                </a:solidFill>
                <a:latin typeface="Calibri"/>
              </a:rPr>
              <a:t>▸  </a:t>
            </a:r>
            <a:r>
              <a:rPr sz="1250" b="1">
                <a:solidFill>
                  <a:srgbClr val="990000"/>
                </a:solidFill>
                <a:latin typeface="Calibri"/>
              </a:rPr>
              <a:t>No full ring from cameras alone</a:t>
            </a:r>
          </a:p>
        </p:txBody>
      </p:sp>
      <p:sp>
        <p:nvSpPr>
          <p:cNvPr id="19" name="Rectangle 18"/>
          <p:cNvSpPr/>
          <p:nvPr/>
        </p:nvSpPr>
        <p:spPr>
          <a:xfrm>
            <a:off x="8823960" y="2057400"/>
            <a:ext cx="2743200" cy="36118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823960" y="2057400"/>
            <a:ext cx="54864" cy="36118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194560"/>
            <a:ext cx="2423160" cy="274320"/>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990000"/>
                </a:solidFill>
                <a:latin typeface="Calibri"/>
              </a:rPr>
              <a:t>ARGOVERSE 2</a:t>
            </a:r>
          </a:p>
        </p:txBody>
      </p:sp>
      <p:sp>
        <p:nvSpPr>
          <p:cNvPr id="22" name="TextBox 21"/>
          <p:cNvSpPr txBox="1"/>
          <p:nvPr/>
        </p:nvSpPr>
        <p:spPr>
          <a:xfrm>
            <a:off x="9006840" y="2542032"/>
            <a:ext cx="2423160" cy="3017520"/>
          </a:xfrm>
          <a:prstGeom prst="rect">
            <a:avLst/>
          </a:prstGeom>
          <a:noFill/>
        </p:spPr>
        <p:txBody>
          <a:bodyPr wrap="square" lIns="0" tIns="0" rIns="0" bIns="0" anchor="t">
            <a:noAutofit/>
          </a:bodyPr>
          <a:lstStyle/>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7 ring cameras = full 360°</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20 Hz · ~300 frames/log</a:t>
            </a:r>
          </a:p>
          <a:p>
            <a:pPr algn="l">
              <a:lnSpc>
                <a:spcPct val="110000"/>
              </a:lnSpc>
              <a:spcBef>
                <a:spcPts val="0"/>
              </a:spcBef>
              <a:spcAft>
                <a:spcPts val="700"/>
              </a:spcAft>
            </a:pPr>
            <a:r>
              <a:rPr sz="1250" b="1">
                <a:solidFill>
                  <a:srgbClr val="FFCC00"/>
                </a:solidFill>
                <a:latin typeface="Calibri"/>
              </a:rPr>
              <a:t>▸  </a:t>
            </a:r>
            <a:r>
              <a:rPr sz="1250" b="0">
                <a:solidFill>
                  <a:srgbClr val="1A1410"/>
                </a:solidFill>
                <a:latin typeface="Calibri"/>
              </a:rPr>
              <a:t>3D boxes + LiDAR</a:t>
            </a:r>
          </a:p>
          <a:p>
            <a:pPr algn="l">
              <a:lnSpc>
                <a:spcPct val="110000"/>
              </a:lnSpc>
              <a:spcBef>
                <a:spcPts val="0"/>
              </a:spcBef>
              <a:spcAft>
                <a:spcPts val="700"/>
              </a:spcAft>
            </a:pPr>
            <a:r>
              <a:rPr sz="1250" b="1">
                <a:solidFill>
                  <a:srgbClr val="FFCC00"/>
                </a:solidFill>
                <a:latin typeface="Calibri"/>
              </a:rPr>
              <a:t>▸  </a:t>
            </a:r>
            <a:r>
              <a:rPr sz="1250" b="1">
                <a:solidFill>
                  <a:srgbClr val="990000"/>
                </a:solidFill>
                <a:latin typeface="Calibri"/>
              </a:rPr>
              <a:t>Per-camera capture timestamps (this became crucial)</a:t>
            </a:r>
          </a:p>
        </p:txBody>
      </p:sp>
      <p:sp>
        <p:nvSpPr>
          <p:cNvPr id="23" name="Rectangle 22"/>
          <p:cNvSpPr/>
          <p:nvPr/>
        </p:nvSpPr>
        <p:spPr>
          <a:xfrm>
            <a:off x="640080" y="5897880"/>
            <a:ext cx="36576" cy="50292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5943600"/>
            <a:ext cx="10424160" cy="457200"/>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Waymo migration stays queued as our generalization gate.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BASELINE</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L1 baseline: project and blend — and why it fails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GK_bmw_avg_vs_pick.png"/>
          <p:cNvPicPr>
            <a:picLocks noChangeAspect="1"/>
          </p:cNvPicPr>
          <p:nvPr/>
        </p:nvPicPr>
        <p:blipFill>
          <a:blip r:embed="rId3"/>
          <a:stretch>
            <a:fillRect/>
          </a:stretch>
        </p:blipFill>
        <p:spPr>
          <a:xfrm>
            <a:off x="862823" y="1965960"/>
            <a:ext cx="10463306" cy="2697480"/>
          </a:xfrm>
          <a:prstGeom prst="rect">
            <a:avLst/>
          </a:prstGeom>
        </p:spPr>
      </p:pic>
      <p:sp>
        <p:nvSpPr>
          <p:cNvPr id="13" name="TextBox 12"/>
          <p:cNvSpPr txBox="1"/>
          <p:nvPr/>
        </p:nvSpPr>
        <p:spPr>
          <a:xfrm>
            <a:off x="640080" y="4892040"/>
            <a:ext cx="10908792" cy="1463040"/>
          </a:xfrm>
          <a:prstGeom prst="rect">
            <a:avLst/>
          </a:prstGeom>
          <a:noFill/>
        </p:spPr>
        <p:txBody>
          <a:bodyPr wrap="square" lIns="0" tIns="0" rIns="0" bIns="0" anchor="t">
            <a:noAutofit/>
          </a:bodyPr>
          <a:lstStyle/>
          <a:p>
            <a:pPr algn="l">
              <a:lnSpc>
                <a:spcPct val="110000"/>
              </a:lnSpc>
              <a:spcBef>
                <a:spcPts val="0"/>
              </a:spcBef>
              <a:spcAft>
                <a:spcPts val="800"/>
              </a:spcAft>
            </a:pPr>
            <a:r>
              <a:rPr sz="1400" b="1">
                <a:solidFill>
                  <a:srgbClr val="FFCC00"/>
                </a:solidFill>
                <a:latin typeface="Calibri"/>
              </a:rPr>
              <a:t>▸  </a:t>
            </a:r>
            <a:r>
              <a:rPr sz="1400" b="0">
                <a:solidFill>
                  <a:srgbClr val="1A1410"/>
                </a:solidFill>
                <a:latin typeface="Calibri"/>
              </a:rPr>
              <a:t>Spherical projection from the ego origin + multi-band blending</a:t>
            </a:r>
          </a:p>
          <a:p>
            <a:pPr algn="l">
              <a:lnSpc>
                <a:spcPct val="110000"/>
              </a:lnSpc>
              <a:spcBef>
                <a:spcPts val="0"/>
              </a:spcBef>
              <a:spcAft>
                <a:spcPts val="800"/>
              </a:spcAft>
            </a:pPr>
            <a:r>
              <a:rPr sz="1400" b="1">
                <a:solidFill>
                  <a:srgbClr val="FFCC00"/>
                </a:solidFill>
                <a:latin typeface="Calibri"/>
              </a:rPr>
              <a:t>▸  </a:t>
            </a:r>
            <a:r>
              <a:rPr sz="1400" b="0">
                <a:solidFill>
                  <a:srgbClr val="1A1410"/>
                </a:solidFill>
                <a:latin typeface="Calibri"/>
              </a:rPr>
              <a:t>Symptoms: ghosting in every overlap, structural misalignment</a:t>
            </a:r>
          </a:p>
          <a:p>
            <a:pPr algn="l">
              <a:lnSpc>
                <a:spcPct val="110000"/>
              </a:lnSpc>
              <a:spcBef>
                <a:spcPts val="0"/>
              </a:spcBef>
              <a:spcAft>
                <a:spcPts val="800"/>
              </a:spcAft>
            </a:pPr>
            <a:r>
              <a:rPr sz="1400" b="1">
                <a:solidFill>
                  <a:srgbClr val="FFCC00"/>
                </a:solidFill>
                <a:latin typeface="Calibri"/>
              </a:rPr>
              <a:t>▸  </a:t>
            </a:r>
            <a:r>
              <a:rPr sz="1400" b="1">
                <a:solidFill>
                  <a:srgbClr val="990000"/>
                </a:solidFill>
                <a:latin typeface="Calibri"/>
              </a:rPr>
              <a:t>Diagnosis: blending = averaging two misaligned copies of the world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IV</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04_L1_hard_select_bmw_2048x1024.png"/>
          <p:cNvPicPr>
            <a:picLocks noChangeAspect="1"/>
          </p:cNvPicPr>
          <p:nvPr/>
        </p:nvPicPr>
        <p:blipFill>
          <a:blip r:embed="rId3"/>
          <a:stretch>
            <a:fillRect/>
          </a:stretch>
        </p:blipFill>
        <p:spPr>
          <a:xfrm>
            <a:off x="2252381" y="1485294"/>
            <a:ext cx="7952591" cy="3038364"/>
          </a:xfrm>
          <a:prstGeom prst="rect">
            <a:avLst/>
          </a:prstGeom>
        </p:spPr>
      </p:pic>
      <p:sp>
        <p:nvSpPr>
          <p:cNvPr id="13" name="TextBox 12"/>
          <p:cNvSpPr txBox="1"/>
          <p:nvPr/>
        </p:nvSpPr>
        <p:spPr>
          <a:xfrm>
            <a:off x="2310203" y="4621620"/>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Hard select</a:t>
            </a:r>
          </a:p>
        </p:txBody>
      </p:sp>
      <p:sp>
        <p:nvSpPr>
          <p:cNvPr id="14" name="TextBox 13"/>
          <p:cNvSpPr txBox="1"/>
          <p:nvPr/>
        </p:nvSpPr>
        <p:spPr>
          <a:xfrm>
            <a:off x="2310203" y="4914228"/>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a:solidFill>
                  <a:srgbClr val="1A1410"/>
                </a:solidFill>
                <a:latin typeface="Calibri"/>
              </a:rPr>
              <a:t>One camera per pixel: color ghosts gone, structure still misaligned</a:t>
            </a:r>
          </a:p>
        </p:txBody>
      </p:sp>
      <p:sp>
        <p:nvSpPr>
          <p:cNvPr id="21" name="Rectangle 20"/>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5B07E-E01A-4644-4D9A-12A5F6BFAE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1DABBD6-63E9-C28E-3F25-AABC5D8EFACE}"/>
              </a:ext>
            </a:extLst>
          </p:cNvPr>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037345FE-1817-6AB9-16F0-1E9062052B7B}"/>
              </a:ext>
            </a:extLst>
          </p:cNvPr>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A8A9E525-FB66-1625-E31B-187A87FAE682}"/>
              </a:ext>
            </a:extLst>
          </p:cNvPr>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7BADD91-19EF-7A88-F9A5-8603E7BC3140}"/>
              </a:ext>
            </a:extLst>
          </p:cNvPr>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F269CFC-DA41-FA96-AB38-A9BB9F91A442}"/>
              </a:ext>
            </a:extLst>
          </p:cNvPr>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795C0D2-9E7D-071E-6BBC-52CA9B834B5C}"/>
              </a:ext>
            </a:extLst>
          </p:cNvPr>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IV</a:t>
            </a:r>
          </a:p>
        </p:txBody>
      </p:sp>
      <p:sp>
        <p:nvSpPr>
          <p:cNvPr id="8" name="Rectangle 7">
            <a:extLst>
              <a:ext uri="{FF2B5EF4-FFF2-40B4-BE49-F238E27FC236}">
                <a16:creationId xmlns:a16="http://schemas.microsoft.com/office/drawing/2014/main" id="{6CB674DC-25EB-9754-F263-8C72C3EA55F7}"/>
              </a:ext>
            </a:extLst>
          </p:cNvPr>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E2E7ED43-C7B8-2545-925E-30E89639FADB}"/>
              </a:ext>
            </a:extLst>
          </p:cNvPr>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a:extLst>
              <a:ext uri="{FF2B5EF4-FFF2-40B4-BE49-F238E27FC236}">
                <a16:creationId xmlns:a16="http://schemas.microsoft.com/office/drawing/2014/main" id="{2F3EF36F-4975-6975-14AA-D3A9A39354FC}"/>
              </a:ext>
            </a:extLst>
          </p:cNvPr>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a:extLst>
              <a:ext uri="{FF2B5EF4-FFF2-40B4-BE49-F238E27FC236}">
                <a16:creationId xmlns:a16="http://schemas.microsoft.com/office/drawing/2014/main" id="{F9692415-C783-6486-F1EC-E51FAF1E772C}"/>
              </a:ext>
            </a:extLst>
          </p:cNvPr>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CB920796-F43D-1AD5-1C34-6D7940220A0F}"/>
              </a:ext>
            </a:extLst>
          </p:cNvPr>
          <p:cNvSpPr txBox="1"/>
          <p:nvPr/>
        </p:nvSpPr>
        <p:spPr>
          <a:xfrm>
            <a:off x="1666539" y="4683880"/>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Optical-flow view interpolation</a:t>
            </a:r>
          </a:p>
        </p:txBody>
      </p:sp>
      <p:sp>
        <p:nvSpPr>
          <p:cNvPr id="17" name="TextBox 16">
            <a:extLst>
              <a:ext uri="{FF2B5EF4-FFF2-40B4-BE49-F238E27FC236}">
                <a16:creationId xmlns:a16="http://schemas.microsoft.com/office/drawing/2014/main" id="{FA3D2BDA-4F49-5897-BF1D-20DB932B1AFB}"/>
              </a:ext>
            </a:extLst>
          </p:cNvPr>
          <p:cNvSpPr txBox="1"/>
          <p:nvPr/>
        </p:nvSpPr>
        <p:spPr>
          <a:xfrm>
            <a:off x="1666539" y="4976488"/>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dirty="0">
                <a:solidFill>
                  <a:srgbClr val="1A1410"/>
                </a:solidFill>
                <a:latin typeface="Calibri"/>
              </a:rPr>
              <a:t>Smooths determinable seams, helpless on moving objects</a:t>
            </a:r>
          </a:p>
        </p:txBody>
      </p:sp>
      <p:sp>
        <p:nvSpPr>
          <p:cNvPr id="21" name="Rectangle 20">
            <a:extLst>
              <a:ext uri="{FF2B5EF4-FFF2-40B4-BE49-F238E27FC236}">
                <a16:creationId xmlns:a16="http://schemas.microsoft.com/office/drawing/2014/main" id="{05FED393-D056-911D-8642-F5129ED8544A}"/>
              </a:ext>
            </a:extLst>
          </p:cNvPr>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1C78FBF-BF2E-B19F-A118-5FFF960ECFBD}"/>
              </a:ext>
            </a:extLst>
          </p:cNvPr>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pic>
        <p:nvPicPr>
          <p:cNvPr id="23" name="Picture 22" descr="01_A1_view_none_bmw_2048x1024.png">
            <a:extLst>
              <a:ext uri="{FF2B5EF4-FFF2-40B4-BE49-F238E27FC236}">
                <a16:creationId xmlns:a16="http://schemas.microsoft.com/office/drawing/2014/main" id="{E298A972-B909-6C67-D9D0-C0B83F4CFC81}"/>
              </a:ext>
            </a:extLst>
          </p:cNvPr>
          <p:cNvPicPr>
            <a:picLocks noChangeAspect="1"/>
          </p:cNvPicPr>
          <p:nvPr/>
        </p:nvPicPr>
        <p:blipFill>
          <a:blip r:embed="rId3"/>
          <a:stretch>
            <a:fillRect/>
          </a:stretch>
        </p:blipFill>
        <p:spPr>
          <a:xfrm>
            <a:off x="1608268" y="1465730"/>
            <a:ext cx="7078532" cy="3122407"/>
          </a:xfrm>
          <a:prstGeom prst="rect">
            <a:avLst/>
          </a:prstGeom>
        </p:spPr>
      </p:pic>
    </p:spTree>
    <p:extLst>
      <p:ext uri="{BB962C8B-B14F-4D97-AF65-F5344CB8AC3E}">
        <p14:creationId xmlns:p14="http://schemas.microsoft.com/office/powerpoint/2010/main" val="1612080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A4836-D43A-B6C0-59CC-4E856EE4C7E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7766CA-A8C8-1C3D-47E3-AFFA3E559EE8}"/>
              </a:ext>
            </a:extLst>
          </p:cNvPr>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EE29C0E7-452D-92AC-34E0-C509E6F35AFB}"/>
              </a:ext>
            </a:extLst>
          </p:cNvPr>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882B8B0E-EDA3-145D-7DFF-C21B48840F54}"/>
              </a:ext>
            </a:extLst>
          </p:cNvPr>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0F36A30-5C9F-F4E4-4AC8-E01ADBE94251}"/>
              </a:ext>
            </a:extLst>
          </p:cNvPr>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940FEB19-0DB2-0FE6-DD3D-35B10B79DEF7}"/>
              </a:ext>
            </a:extLst>
          </p:cNvPr>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4DF64D2B-1AB7-2D39-DA60-A9587658400D}"/>
              </a:ext>
            </a:extLst>
          </p:cNvPr>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IV</a:t>
            </a:r>
          </a:p>
        </p:txBody>
      </p:sp>
      <p:sp>
        <p:nvSpPr>
          <p:cNvPr id="8" name="Rectangle 7">
            <a:extLst>
              <a:ext uri="{FF2B5EF4-FFF2-40B4-BE49-F238E27FC236}">
                <a16:creationId xmlns:a16="http://schemas.microsoft.com/office/drawing/2014/main" id="{06CA7BF5-649D-7EA4-5866-658408B84581}"/>
              </a:ext>
            </a:extLst>
          </p:cNvPr>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61E3A163-DF64-002D-8A7C-23064BAF242C}"/>
              </a:ext>
            </a:extLst>
          </p:cNvPr>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ITERATIONS</a:t>
            </a:r>
          </a:p>
        </p:txBody>
      </p:sp>
      <p:sp>
        <p:nvSpPr>
          <p:cNvPr id="10" name="TextBox 9">
            <a:extLst>
              <a:ext uri="{FF2B5EF4-FFF2-40B4-BE49-F238E27FC236}">
                <a16:creationId xmlns:a16="http://schemas.microsoft.com/office/drawing/2014/main" id="{50974AC8-C178-1101-3A26-844827CCC9E9}"/>
              </a:ext>
            </a:extLst>
          </p:cNvPr>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dirty="0">
                <a:solidFill>
                  <a:srgbClr val="990000"/>
                </a:solidFill>
                <a:latin typeface="Calibri"/>
              </a:rPr>
              <a:t>Two months of better seam-hiding</a:t>
            </a:r>
          </a:p>
        </p:txBody>
      </p:sp>
      <p:sp>
        <p:nvSpPr>
          <p:cNvPr id="11" name="Rectangle 10">
            <a:extLst>
              <a:ext uri="{FF2B5EF4-FFF2-40B4-BE49-F238E27FC236}">
                <a16:creationId xmlns:a16="http://schemas.microsoft.com/office/drawing/2014/main" id="{A3FD3518-D0C5-0084-D2D9-0724F74C2EE7}"/>
              </a:ext>
            </a:extLst>
          </p:cNvPr>
          <p:cNvSpPr/>
          <p:nvPr/>
        </p:nvSpPr>
        <p:spPr>
          <a:xfrm>
            <a:off x="586291" y="1317812"/>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FA235AC1-DF4F-380C-FDE3-7776B53050BF}"/>
              </a:ext>
            </a:extLst>
          </p:cNvPr>
          <p:cNvSpPr/>
          <p:nvPr/>
        </p:nvSpPr>
        <p:spPr>
          <a:xfrm>
            <a:off x="640080" y="5486400"/>
            <a:ext cx="10908792" cy="868680"/>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668EE4EB-9BA2-B836-9361-E6E3C7A00FEC}"/>
              </a:ext>
            </a:extLst>
          </p:cNvPr>
          <p:cNvSpPr txBox="1"/>
          <p:nvPr/>
        </p:nvSpPr>
        <p:spPr>
          <a:xfrm>
            <a:off x="868680" y="5596128"/>
            <a:ext cx="10424160" cy="685800"/>
          </a:xfrm>
          <a:prstGeom prst="rect">
            <a:avLst/>
          </a:prstGeom>
          <a:noFill/>
        </p:spPr>
        <p:txBody>
          <a:bodyPr wrap="square" lIns="0" tIns="0" rIns="0" bIns="0" anchor="ctr">
            <a:noAutofit/>
          </a:bodyPr>
          <a:lstStyle/>
          <a:p>
            <a:pPr algn="l">
              <a:lnSpc>
                <a:spcPct val="105000"/>
              </a:lnSpc>
              <a:spcBef>
                <a:spcPts val="0"/>
              </a:spcBef>
              <a:spcAft>
                <a:spcPts val="200"/>
              </a:spcAft>
            </a:pPr>
            <a:r>
              <a:rPr sz="1400" b="1">
                <a:solidFill>
                  <a:srgbClr val="FBF6EC"/>
                </a:solidFill>
                <a:latin typeface="Calibri"/>
              </a:rPr>
              <a:t>Every route hit the same wall: we were hiding seams, not removing their cause. Learned / 3D replacements tested worse.</a:t>
            </a:r>
          </a:p>
        </p:txBody>
      </p:sp>
      <p:pic>
        <p:nvPicPr>
          <p:cNvPr id="12" name="Picture 11" descr="02_G_bmw_pano_2048x1024.jpg">
            <a:extLst>
              <a:ext uri="{FF2B5EF4-FFF2-40B4-BE49-F238E27FC236}">
                <a16:creationId xmlns:a16="http://schemas.microsoft.com/office/drawing/2014/main" id="{158DB5A4-B111-4ACB-4046-2B0D2077A9E3}"/>
              </a:ext>
            </a:extLst>
          </p:cNvPr>
          <p:cNvPicPr>
            <a:picLocks noChangeAspect="1"/>
          </p:cNvPicPr>
          <p:nvPr/>
        </p:nvPicPr>
        <p:blipFill>
          <a:blip r:embed="rId3"/>
          <a:stretch>
            <a:fillRect/>
          </a:stretch>
        </p:blipFill>
        <p:spPr>
          <a:xfrm>
            <a:off x="1227895" y="1384509"/>
            <a:ext cx="8161828" cy="3260643"/>
          </a:xfrm>
          <a:prstGeom prst="rect">
            <a:avLst/>
          </a:prstGeom>
        </p:spPr>
      </p:pic>
      <p:sp>
        <p:nvSpPr>
          <p:cNvPr id="13" name="TextBox 12">
            <a:extLst>
              <a:ext uri="{FF2B5EF4-FFF2-40B4-BE49-F238E27FC236}">
                <a16:creationId xmlns:a16="http://schemas.microsoft.com/office/drawing/2014/main" id="{0A27E917-9C8A-A015-32A6-9F6174D72579}"/>
              </a:ext>
            </a:extLst>
          </p:cNvPr>
          <p:cNvSpPr txBox="1"/>
          <p:nvPr/>
        </p:nvSpPr>
        <p:spPr>
          <a:xfrm>
            <a:off x="1227895" y="4708891"/>
            <a:ext cx="3520440" cy="274320"/>
          </a:xfrm>
          <a:prstGeom prst="rect">
            <a:avLst/>
          </a:prstGeom>
          <a:noFill/>
        </p:spPr>
        <p:txBody>
          <a:bodyPr wrap="square" lIns="0" tIns="0" rIns="0" bIns="0" anchor="t">
            <a:noAutofit/>
          </a:bodyPr>
          <a:lstStyle/>
          <a:p>
            <a:pPr algn="l">
              <a:lnSpc>
                <a:spcPct val="100000"/>
              </a:lnSpc>
              <a:spcBef>
                <a:spcPts val="0"/>
              </a:spcBef>
              <a:spcAft>
                <a:spcPts val="200"/>
              </a:spcAft>
            </a:pPr>
            <a:r>
              <a:rPr sz="1300" b="1" dirty="0">
                <a:solidFill>
                  <a:srgbClr val="990000"/>
                </a:solidFill>
                <a:latin typeface="Calibri"/>
              </a:rPr>
              <a:t>Seam routing around objects</a:t>
            </a:r>
          </a:p>
        </p:txBody>
      </p:sp>
      <p:sp>
        <p:nvSpPr>
          <p:cNvPr id="14" name="TextBox 13">
            <a:extLst>
              <a:ext uri="{FF2B5EF4-FFF2-40B4-BE49-F238E27FC236}">
                <a16:creationId xmlns:a16="http://schemas.microsoft.com/office/drawing/2014/main" id="{CC1346F1-A334-0742-D5C3-7825A3A1CD67}"/>
              </a:ext>
            </a:extLst>
          </p:cNvPr>
          <p:cNvSpPr txBox="1"/>
          <p:nvPr/>
        </p:nvSpPr>
        <p:spPr>
          <a:xfrm>
            <a:off x="1226371" y="5001499"/>
            <a:ext cx="3520440" cy="1005840"/>
          </a:xfrm>
          <a:prstGeom prst="rect">
            <a:avLst/>
          </a:prstGeom>
          <a:noFill/>
        </p:spPr>
        <p:txBody>
          <a:bodyPr wrap="square" lIns="0" tIns="0" rIns="0" bIns="0" anchor="t">
            <a:noAutofit/>
          </a:bodyPr>
          <a:lstStyle/>
          <a:p>
            <a:pPr algn="l">
              <a:lnSpc>
                <a:spcPct val="108000"/>
              </a:lnSpc>
              <a:spcBef>
                <a:spcPts val="0"/>
              </a:spcBef>
              <a:spcAft>
                <a:spcPts val="200"/>
              </a:spcAft>
            </a:pPr>
            <a:r>
              <a:rPr sz="1200" b="0" dirty="0">
                <a:solidFill>
                  <a:srgbClr val="1A1410"/>
                </a:solidFill>
                <a:latin typeface="Calibri"/>
              </a:rPr>
              <a:t>Best of this era — near-ground waviness and seam-cut cars persist</a:t>
            </a:r>
          </a:p>
        </p:txBody>
      </p:sp>
    </p:spTree>
    <p:extLst>
      <p:ext uri="{BB962C8B-B14F-4D97-AF65-F5344CB8AC3E}">
        <p14:creationId xmlns:p14="http://schemas.microsoft.com/office/powerpoint/2010/main" val="2178472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TURNING POINT</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600" b="1">
                <a:solidFill>
                  <a:srgbClr val="990000"/>
                </a:solidFill>
                <a:latin typeface="Calibri"/>
              </a:rPr>
              <a:t>Two hidden assumptions, found by first principles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5440680" cy="1828800"/>
          </a:xfrm>
          <a:prstGeom prst="rect">
            <a:avLst/>
          </a:prstGeom>
          <a:noFill/>
        </p:spPr>
        <p:txBody>
          <a:bodyPr wrap="square" lIns="0" tIns="0" rIns="0" bIns="0" anchor="t">
            <a:noAutofit/>
          </a:bodyPr>
          <a:lstStyle/>
          <a:p>
            <a:pPr algn="l">
              <a:lnSpc>
                <a:spcPct val="115000"/>
              </a:lnSpc>
              <a:spcBef>
                <a:spcPts val="0"/>
              </a:spcBef>
              <a:spcAft>
                <a:spcPts val="200"/>
              </a:spcAft>
            </a:pPr>
            <a:r>
              <a:rPr sz="1600" b="1">
                <a:solidFill>
                  <a:srgbClr val="FFCC00"/>
                </a:solidFill>
                <a:latin typeface="Calibri"/>
              </a:rPr>
              <a:t>①  </a:t>
            </a:r>
            <a:r>
              <a:rPr sz="1350" b="0">
                <a:solidFill>
                  <a:srgbClr val="1A1410"/>
                </a:solidFill>
                <a:latin typeface="Calibri"/>
              </a:rPr>
              <a:t>The projection centre had been pinned to the ego origin since day one — never a design variable. Moving it to the ring-camera centroid cut projection residuals </a:t>
            </a:r>
            <a:r>
              <a:rPr sz="1350" b="1">
                <a:solidFill>
                  <a:srgbClr val="990000"/>
                </a:solidFill>
                <a:latin typeface="Calibri"/>
              </a:rPr>
              <a:t>18–96×.</a:t>
            </a:r>
          </a:p>
        </p:txBody>
      </p:sp>
      <p:sp>
        <p:nvSpPr>
          <p:cNvPr id="13" name="TextBox 12"/>
          <p:cNvSpPr txBox="1"/>
          <p:nvPr/>
        </p:nvSpPr>
        <p:spPr>
          <a:xfrm>
            <a:off x="640080" y="3794760"/>
            <a:ext cx="5440680" cy="2377440"/>
          </a:xfrm>
          <a:prstGeom prst="rect">
            <a:avLst/>
          </a:prstGeom>
          <a:noFill/>
        </p:spPr>
        <p:txBody>
          <a:bodyPr wrap="square" lIns="0" tIns="0" rIns="0" bIns="0" anchor="t">
            <a:noAutofit/>
          </a:bodyPr>
          <a:lstStyle/>
          <a:p>
            <a:pPr algn="l">
              <a:lnSpc>
                <a:spcPct val="115000"/>
              </a:lnSpc>
              <a:spcBef>
                <a:spcPts val="0"/>
              </a:spcBef>
              <a:spcAft>
                <a:spcPts val="200"/>
              </a:spcAft>
            </a:pPr>
            <a:r>
              <a:rPr sz="1600" b="1">
                <a:solidFill>
                  <a:srgbClr val="FFCC00"/>
                </a:solidFill>
                <a:latin typeface="Calibri"/>
              </a:rPr>
              <a:t>②  </a:t>
            </a:r>
            <a:r>
              <a:rPr sz="1350" b="0">
                <a:solidFill>
                  <a:srgbClr val="1A1410"/>
                </a:solidFill>
                <a:latin typeface="Calibri"/>
              </a:rPr>
              <a:t>A fourth error source nobody modeled: the seven cameras fire up to </a:t>
            </a:r>
            <a:r>
              <a:rPr sz="1350" b="1">
                <a:solidFill>
                  <a:srgbClr val="990000"/>
                </a:solidFill>
                <a:latin typeface="Calibri"/>
              </a:rPr>
              <a:t>±22.5 ms apart.</a:t>
            </a:r>
            <a:r>
              <a:rPr sz="1350" b="0">
                <a:solidFill>
                  <a:srgbClr val="1A1410"/>
                </a:solidFill>
                <a:latin typeface="Calibri"/>
              </a:rPr>
              <a:t> At 15 m/s a car moves ~0.7 m between adjacent cameras' exposures — a </a:t>
            </a:r>
            <a:r>
              <a:rPr sz="1350" b="1">
                <a:solidFill>
                  <a:srgbClr val="990000"/>
                </a:solidFill>
                <a:latin typeface="Calibri"/>
              </a:rPr>
              <a:t>TIME problem no alignment can fix.</a:t>
            </a:r>
          </a:p>
        </p:txBody>
      </p:sp>
      <p:pic>
        <p:nvPicPr>
          <p:cNvPr id="14" name="Picture 13" descr="D2_shutter.png"/>
          <p:cNvPicPr>
            <a:picLocks noChangeAspect="1"/>
          </p:cNvPicPr>
          <p:nvPr/>
        </p:nvPicPr>
        <p:blipFill>
          <a:blip r:embed="rId3"/>
          <a:stretch>
            <a:fillRect/>
          </a:stretch>
        </p:blipFill>
        <p:spPr>
          <a:xfrm>
            <a:off x="6355080" y="2485730"/>
            <a:ext cx="5212079" cy="289237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METHOD I</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800" b="1">
                <a:solidFill>
                  <a:srgbClr val="990000"/>
                </a:solidFill>
                <a:latin typeface="Calibri"/>
              </a:rPr>
              <a:t>The pipeline: evidence-gated compositing</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5897880"/>
            <a:ext cx="10908792" cy="868680"/>
          </a:xfrm>
          <a:prstGeom prst="rect">
            <a:avLst/>
          </a:prstGeom>
          <a:noFill/>
        </p:spPr>
        <p:txBody>
          <a:bodyPr wrap="square" lIns="0" tIns="0" rIns="0" bIns="0" anchor="t">
            <a:noAutofit/>
          </a:bodyPr>
          <a:lstStyle/>
          <a:p>
            <a:pPr algn="l">
              <a:lnSpc>
                <a:spcPct val="110000"/>
              </a:lnSpc>
              <a:spcBef>
                <a:spcPts val="0"/>
              </a:spcBef>
              <a:spcAft>
                <a:spcPts val="200"/>
              </a:spcAft>
            </a:pPr>
            <a:r>
              <a:rPr sz="1250" b="0">
                <a:solidFill>
                  <a:srgbClr val="1A1410"/>
                </a:solidFill>
                <a:latin typeface="Calibri"/>
              </a:rPr>
              <a:t>Virtual centre → depth → photometric gain → EMC (ego shutter) → segmentation evidence → one body · one camera · one time (+OMC) → morph + content seam → temporal consensus.   </a:t>
            </a:r>
            <a:r>
              <a:rPr sz="1250" b="1">
                <a:solidFill>
                  <a:srgbClr val="990000"/>
                </a:solidFill>
                <a:latin typeface="Calibri"/>
              </a:rPr>
              <a:t>Rule zero: never average geometry; abstain where evidence is insufficient.</a:t>
            </a:r>
          </a:p>
        </p:txBody>
      </p:sp>
      <p:pic>
        <p:nvPicPr>
          <p:cNvPr id="14" name="Picture 13" descr="D1_pipeline.png"/>
          <p:cNvPicPr>
            <a:picLocks noChangeAspect="1"/>
          </p:cNvPicPr>
          <p:nvPr/>
        </p:nvPicPr>
        <p:blipFill>
          <a:blip r:embed="rId3"/>
          <a:stretch>
            <a:fillRect/>
          </a:stretch>
        </p:blipFill>
        <p:spPr>
          <a:xfrm>
            <a:off x="640080" y="2261793"/>
            <a:ext cx="10908791" cy="32488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METHOD II</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Moving objects: one body, one camera, one time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1_porsche_before_after.png"/>
          <p:cNvPicPr>
            <a:picLocks noChangeAspect="1"/>
          </p:cNvPicPr>
          <p:nvPr/>
        </p:nvPicPr>
        <p:blipFill>
          <a:blip r:embed="rId3"/>
          <a:stretch>
            <a:fillRect/>
          </a:stretch>
        </p:blipFill>
        <p:spPr>
          <a:xfrm>
            <a:off x="640080" y="2057400"/>
            <a:ext cx="4408714" cy="4206240"/>
          </a:xfrm>
          <a:prstGeom prst="rect">
            <a:avLst/>
          </a:prstGeom>
        </p:spPr>
      </p:pic>
      <p:sp>
        <p:nvSpPr>
          <p:cNvPr id="13" name="TextBox 12"/>
          <p:cNvSpPr txBox="1"/>
          <p:nvPr/>
        </p:nvSpPr>
        <p:spPr>
          <a:xfrm>
            <a:off x="5943600" y="2148840"/>
            <a:ext cx="5605272" cy="4023360"/>
          </a:xfrm>
          <a:prstGeom prst="rect">
            <a:avLst/>
          </a:prstGeom>
          <a:noFill/>
        </p:spPr>
        <p:txBody>
          <a:bodyPr wrap="square" lIns="0" tIns="0" rIns="0" bIns="0" anchor="t">
            <a:noAutofit/>
          </a:bodyPr>
          <a:lstStyle/>
          <a:p>
            <a:pPr algn="l">
              <a:lnSpc>
                <a:spcPct val="112000"/>
              </a:lnSpc>
              <a:spcBef>
                <a:spcPts val="0"/>
              </a:spcBef>
              <a:spcAft>
                <a:spcPts val="1200"/>
              </a:spcAft>
            </a:pPr>
            <a:r>
              <a:rPr sz="1400" b="1">
                <a:solidFill>
                  <a:srgbClr val="FFCC00"/>
                </a:solidFill>
                <a:latin typeface="Calibri"/>
              </a:rPr>
              <a:t>▸  </a:t>
            </a:r>
            <a:r>
              <a:rPr sz="1400" b="0">
                <a:solidFill>
                  <a:srgbClr val="1A1410"/>
                </a:solidFill>
                <a:latin typeface="Calibri"/>
              </a:rPr>
              <a:t>Boxes give identity, masks give geometry</a:t>
            </a:r>
          </a:p>
          <a:p>
            <a:pPr algn="l">
              <a:lnSpc>
                <a:spcPct val="112000"/>
              </a:lnSpc>
              <a:spcBef>
                <a:spcPts val="0"/>
              </a:spcBef>
              <a:spcAft>
                <a:spcPts val="1200"/>
              </a:spcAft>
            </a:pPr>
            <a:r>
              <a:rPr sz="1400" b="1">
                <a:solidFill>
                  <a:srgbClr val="FFCC00"/>
                </a:solidFill>
                <a:latin typeface="Calibri"/>
              </a:rPr>
              <a:t>▸  </a:t>
            </a:r>
            <a:r>
              <a:rPr sz="1400" b="1">
                <a:solidFill>
                  <a:srgbClr val="990000"/>
                </a:solidFill>
                <a:latin typeface="Calibri"/>
              </a:rPr>
              <a:t>The whole car is rendered from ONE camera at ONE instant — seam-cut cars become impossible by construction</a:t>
            </a:r>
          </a:p>
          <a:p>
            <a:pPr algn="l">
              <a:lnSpc>
                <a:spcPct val="112000"/>
              </a:lnSpc>
              <a:spcBef>
                <a:spcPts val="0"/>
              </a:spcBef>
              <a:spcAft>
                <a:spcPts val="1200"/>
              </a:spcAft>
            </a:pPr>
            <a:r>
              <a:rPr sz="1400" b="1">
                <a:solidFill>
                  <a:srgbClr val="FFCC00"/>
                </a:solidFill>
                <a:latin typeface="Calibri"/>
              </a:rPr>
              <a:t>▸  </a:t>
            </a:r>
            <a:r>
              <a:rPr sz="1400" b="0">
                <a:solidFill>
                  <a:srgbClr val="1A1410"/>
                </a:solidFill>
                <a:latin typeface="Calibri"/>
              </a:rPr>
              <a:t>OMC: the object's own shutter displacement measured by ECC (du = +6 px) and compensated</a:t>
            </a:r>
          </a:p>
          <a:p>
            <a:pPr algn="l">
              <a:lnSpc>
                <a:spcPct val="112000"/>
              </a:lnSpc>
              <a:spcBef>
                <a:spcPts val="0"/>
              </a:spcBef>
              <a:spcAft>
                <a:spcPts val="1200"/>
              </a:spcAft>
            </a:pPr>
            <a:r>
              <a:rPr sz="1400" b="1">
                <a:solidFill>
                  <a:srgbClr val="FFCC00"/>
                </a:solidFill>
                <a:latin typeface="Calibri"/>
              </a:rPr>
              <a:t>▸  </a:t>
            </a:r>
            <a:r>
              <a:rPr sz="1400" b="0">
                <a:solidFill>
                  <a:srgbClr val="1A1410"/>
                </a:solidFill>
                <a:latin typeface="Calibri"/>
              </a:rPr>
              <a:t>Blend only where views agree (content seam)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VIII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300" b="1">
                <a:solidFill>
                  <a:srgbClr val="990000"/>
                </a:solidFill>
                <a:latin typeface="Calibri"/>
              </a:rPr>
              <a:t>Scene band: source-faithful across 5 scenes, zero per-scene parameters</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fig2_bmw_final_pano.jpg"/>
          <p:cNvPicPr>
            <a:picLocks noChangeAspect="1"/>
          </p:cNvPicPr>
          <p:nvPr/>
        </p:nvPicPr>
        <p:blipFill>
          <a:blip r:embed="rId3"/>
          <a:stretch>
            <a:fillRect/>
          </a:stretch>
        </p:blipFill>
        <p:spPr>
          <a:xfrm>
            <a:off x="2492294" y="1920240"/>
            <a:ext cx="7204363" cy="2377440"/>
          </a:xfrm>
          <a:prstGeom prst="rect">
            <a:avLst/>
          </a:prstGeom>
        </p:spPr>
      </p:pic>
      <p:sp>
        <p:nvSpPr>
          <p:cNvPr id="13" name="TextBox 12"/>
          <p:cNvSpPr txBox="1"/>
          <p:nvPr/>
        </p:nvSpPr>
        <p:spPr>
          <a:xfrm>
            <a:off x="640080" y="4572000"/>
            <a:ext cx="10908792" cy="1828800"/>
          </a:xfrm>
          <a:prstGeom prst="rect">
            <a:avLst/>
          </a:prstGeom>
          <a:noFill/>
        </p:spPr>
        <p:txBody>
          <a:bodyPr wrap="square" lIns="0" tIns="0" rIns="0" bIns="0" anchor="t">
            <a:noAutofit/>
          </a:bodyPr>
          <a:lstStyle/>
          <a:p>
            <a:pPr algn="l">
              <a:lnSpc>
                <a:spcPct val="112000"/>
              </a:lnSpc>
              <a:spcBef>
                <a:spcPts val="0"/>
              </a:spcBef>
              <a:spcAft>
                <a:spcPts val="1000"/>
              </a:spcAft>
            </a:pPr>
            <a:r>
              <a:rPr sz="1400" b="1">
                <a:solidFill>
                  <a:srgbClr val="FFCC00"/>
                </a:solidFill>
                <a:latin typeface="Calibri"/>
              </a:rPr>
              <a:t>▸  </a:t>
            </a:r>
            <a:r>
              <a:rPr sz="1400" b="1">
                <a:solidFill>
                  <a:srgbClr val="990000"/>
                </a:solidFill>
                <a:latin typeface="Calibri"/>
              </a:rPr>
              <a:t>All user-visible defect classes closed on the hardest scene; residuals adjudicated as real source content</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Same code, no tuning: bmw / downtown / crowd / clean / highway</a:t>
            </a:r>
          </a:p>
          <a:p>
            <a:pPr algn="l">
              <a:lnSpc>
                <a:spcPct val="112000"/>
              </a:lnSpc>
              <a:spcBef>
                <a:spcPts val="0"/>
              </a:spcBef>
              <a:spcAft>
                <a:spcPts val="1000"/>
              </a:spcAft>
            </a:pPr>
            <a:r>
              <a:rPr sz="1400" b="1">
                <a:solidFill>
                  <a:srgbClr val="FFCC00"/>
                </a:solidFill>
                <a:latin typeface="Calibri"/>
              </a:rPr>
              <a:t>▸  </a:t>
            </a:r>
            <a:r>
              <a:rPr sz="1400" b="0">
                <a:solidFill>
                  <a:srgbClr val="1A1410"/>
                </a:solidFill>
                <a:latin typeface="Calibri"/>
              </a:rPr>
              <a:t>Graceful no-LiDAR degradation: the moving car still renders intact (same OMC du = +6)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IX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GROUND</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600" b="1">
                <a:solidFill>
                  <a:srgbClr val="990000"/>
                </a:solidFill>
                <a:latin typeface="Calibri"/>
              </a:rPr>
              <a:t>Ground: not generated — reprojected from time</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057400"/>
            <a:ext cx="5440680" cy="1554480"/>
          </a:xfrm>
          <a:prstGeom prst="rect">
            <a:avLst/>
          </a:prstGeom>
          <a:noFill/>
        </p:spPr>
        <p:txBody>
          <a:bodyPr wrap="square" lIns="0" tIns="0" rIns="0" bIns="0" anchor="t">
            <a:noAutofit/>
          </a:bodyPr>
          <a:lstStyle/>
          <a:p>
            <a:pPr algn="l">
              <a:lnSpc>
                <a:spcPct val="115000"/>
              </a:lnSpc>
              <a:spcBef>
                <a:spcPts val="0"/>
              </a:spcBef>
              <a:spcAft>
                <a:spcPts val="200"/>
              </a:spcAft>
            </a:pPr>
            <a:r>
              <a:rPr sz="1350" b="0">
                <a:solidFill>
                  <a:srgbClr val="1A1410"/>
                </a:solidFill>
                <a:latin typeface="Calibri"/>
              </a:rPr>
              <a:t>The road under the car NOW was fully visible to the cameras seconds earlier / later → deterministic reprojection of real pixels </a:t>
            </a:r>
            <a:r>
              <a:rPr sz="1350" b="1">
                <a:solidFill>
                  <a:srgbClr val="990000"/>
                </a:solidFill>
                <a:latin typeface="Calibri"/>
              </a:rPr>
              <a:t>(94.5–100% coverage, lane lines continuous through the nadir, ego hood geometrically removed).</a:t>
            </a:r>
          </a:p>
        </p:txBody>
      </p:sp>
      <p:sp>
        <p:nvSpPr>
          <p:cNvPr id="13" name="TextBox 12"/>
          <p:cNvSpPr txBox="1"/>
          <p:nvPr/>
        </p:nvSpPr>
        <p:spPr>
          <a:xfrm>
            <a:off x="640080" y="3749039"/>
            <a:ext cx="5440680" cy="2468880"/>
          </a:xfrm>
          <a:prstGeom prst="rect">
            <a:avLst/>
          </a:prstGeom>
          <a:noFill/>
        </p:spPr>
        <p:txBody>
          <a:bodyPr wrap="square" lIns="0" tIns="0" rIns="0" bIns="0" anchor="t">
            <a:noAutofit/>
          </a:bodyPr>
          <a:lstStyle/>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Candidate frames chosen by geometry over the whole log (a fixed time window fails when the ego idles at a light)</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Exact ray test removes the source car's own hood / cabin reflections</a:t>
            </a:r>
          </a:p>
          <a:p>
            <a:pPr algn="l">
              <a:lnSpc>
                <a:spcPct val="110000"/>
              </a:lnSpc>
              <a:spcBef>
                <a:spcPts val="0"/>
              </a:spcBef>
              <a:spcAft>
                <a:spcPts val="900"/>
              </a:spcAft>
            </a:pPr>
            <a:r>
              <a:rPr sz="1250" b="1">
                <a:solidFill>
                  <a:srgbClr val="FFCC00"/>
                </a:solidFill>
                <a:latin typeface="Calibri"/>
              </a:rPr>
              <a:t>▸  </a:t>
            </a:r>
            <a:r>
              <a:rPr sz="1250" b="0">
                <a:solidFill>
                  <a:srgbClr val="1A1410"/>
                </a:solidFill>
                <a:latin typeface="Calibri"/>
              </a:rPr>
              <a:t>Nadir rendered at the evidence's true optical resolution — nothing invented</a:t>
            </a:r>
          </a:p>
        </p:txBody>
      </p:sp>
      <p:pic>
        <p:nvPicPr>
          <p:cNvPr id="14" name="Picture 13" descr="D3_ground.png"/>
          <p:cNvPicPr>
            <a:picLocks noChangeAspect="1"/>
          </p:cNvPicPr>
          <p:nvPr/>
        </p:nvPicPr>
        <p:blipFill>
          <a:blip r:embed="rId3"/>
          <a:stretch>
            <a:fillRect/>
          </a:stretch>
        </p:blipFill>
        <p:spPr>
          <a:xfrm>
            <a:off x="6355080" y="2898001"/>
            <a:ext cx="5212080" cy="20678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COMPLETING THE SPHERE · SKY</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2700" b="1">
                <a:solidFill>
                  <a:srgbClr val="990000"/>
                </a:solidFill>
                <a:latin typeface="Calibri"/>
              </a:rPr>
              <a:t>Sky: the only generated layer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40080"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40080"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INPUT</a:t>
            </a:r>
          </a:p>
        </p:txBody>
      </p:sp>
      <p:sp>
        <p:nvSpPr>
          <p:cNvPr id="15" name="TextBox 14"/>
          <p:cNvSpPr txBox="1"/>
          <p:nvPr/>
        </p:nvSpPr>
        <p:spPr>
          <a:xfrm>
            <a:off x="804672"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scene-band panorama + sky mask (the only evidence-free region)</a:t>
            </a:r>
          </a:p>
        </p:txBody>
      </p:sp>
      <p:sp>
        <p:nvSpPr>
          <p:cNvPr id="16" name="TextBox 15"/>
          <p:cNvSpPr txBox="1"/>
          <p:nvPr/>
        </p:nvSpPr>
        <p:spPr>
          <a:xfrm>
            <a:off x="4096512"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17" name="Rectangle 16"/>
          <p:cNvSpPr/>
          <p:nvPr/>
        </p:nvSpPr>
        <p:spPr>
          <a:xfrm>
            <a:off x="4370832"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370832"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35424"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MODEL</a:t>
            </a:r>
          </a:p>
        </p:txBody>
      </p:sp>
      <p:sp>
        <p:nvSpPr>
          <p:cNvPr id="20" name="TextBox 19"/>
          <p:cNvSpPr txBox="1"/>
          <p:nvPr/>
        </p:nvSpPr>
        <p:spPr>
          <a:xfrm>
            <a:off x="4535424"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FLUX.1-Fill (mask-conditioned inpainting) + DiT360 panorama LoRA (ERP geometry only)</a:t>
            </a:r>
          </a:p>
        </p:txBody>
      </p:sp>
      <p:sp>
        <p:nvSpPr>
          <p:cNvPr id="21" name="TextBox 20"/>
          <p:cNvSpPr txBox="1"/>
          <p:nvPr/>
        </p:nvSpPr>
        <p:spPr>
          <a:xfrm>
            <a:off x="7827264" y="2194560"/>
            <a:ext cx="274320" cy="411480"/>
          </a:xfrm>
          <a:prstGeom prst="rect">
            <a:avLst/>
          </a:prstGeom>
          <a:noFill/>
        </p:spPr>
        <p:txBody>
          <a:bodyPr wrap="square" lIns="0" tIns="0" rIns="0" bIns="0" anchor="t">
            <a:noAutofit/>
          </a:bodyPr>
          <a:lstStyle/>
          <a:p>
            <a:pPr algn="ctr">
              <a:lnSpc>
                <a:spcPct val="100000"/>
              </a:lnSpc>
              <a:spcBef>
                <a:spcPts val="0"/>
              </a:spcBef>
              <a:spcAft>
                <a:spcPts val="200"/>
              </a:spcAft>
            </a:pPr>
            <a:r>
              <a:rPr sz="1800" b="1">
                <a:solidFill>
                  <a:srgbClr val="6B6058"/>
                </a:solidFill>
                <a:latin typeface="Calibri"/>
              </a:rPr>
              <a:t>→</a:t>
            </a:r>
          </a:p>
        </p:txBody>
      </p:sp>
      <p:sp>
        <p:nvSpPr>
          <p:cNvPr id="22" name="Rectangle 21"/>
          <p:cNvSpPr/>
          <p:nvPr/>
        </p:nvSpPr>
        <p:spPr>
          <a:xfrm>
            <a:off x="8101584" y="1965960"/>
            <a:ext cx="3456432" cy="868680"/>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101584" y="1965960"/>
            <a:ext cx="54864" cy="868680"/>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66176" y="2039112"/>
            <a:ext cx="3182112" cy="256032"/>
          </a:xfrm>
          <a:prstGeom prst="rect">
            <a:avLst/>
          </a:prstGeom>
          <a:noFill/>
        </p:spPr>
        <p:txBody>
          <a:bodyPr wrap="square" lIns="0" tIns="0" rIns="0" bIns="0" anchor="t">
            <a:noAutofit/>
          </a:bodyPr>
          <a:lstStyle/>
          <a:p>
            <a:pPr algn="l">
              <a:lnSpc>
                <a:spcPct val="100000"/>
              </a:lnSpc>
              <a:spcBef>
                <a:spcPts val="0"/>
              </a:spcBef>
              <a:spcAft>
                <a:spcPts val="200"/>
              </a:spcAft>
            </a:pPr>
            <a:r>
              <a:rPr sz="1150" b="1">
                <a:solidFill>
                  <a:srgbClr val="990000"/>
                </a:solidFill>
                <a:latin typeface="Calibri"/>
              </a:rPr>
              <a:t>OUTPUT</a:t>
            </a:r>
          </a:p>
        </p:txBody>
      </p:sp>
      <p:sp>
        <p:nvSpPr>
          <p:cNvPr id="25" name="TextBox 24"/>
          <p:cNvSpPr txBox="1"/>
          <p:nvPr/>
        </p:nvSpPr>
        <p:spPr>
          <a:xfrm>
            <a:off x="8266176" y="2313432"/>
            <a:ext cx="3182112" cy="502920"/>
          </a:xfrm>
          <a:prstGeom prst="rect">
            <a:avLst/>
          </a:prstGeom>
          <a:noFill/>
        </p:spPr>
        <p:txBody>
          <a:bodyPr wrap="square" lIns="0" tIns="0" rIns="0" bIns="0" anchor="t">
            <a:noAutofit/>
          </a:bodyPr>
          <a:lstStyle/>
          <a:p>
            <a:pPr algn="l">
              <a:lnSpc>
                <a:spcPct val="100000"/>
              </a:lnSpc>
              <a:spcBef>
                <a:spcPts val="0"/>
              </a:spcBef>
              <a:spcAft>
                <a:spcPts val="200"/>
              </a:spcAft>
            </a:pPr>
            <a:r>
              <a:rPr sz="1050" b="0">
                <a:solidFill>
                  <a:srgbClr val="1A1410"/>
                </a:solidFill>
                <a:latin typeface="Calibri"/>
              </a:rPr>
              <a:t>complete sphere; every pixel outside the mask byte-identical to input</a:t>
            </a:r>
          </a:p>
        </p:txBody>
      </p:sp>
      <p:sp>
        <p:nvSpPr>
          <p:cNvPr id="26" name="TextBox 25"/>
          <p:cNvSpPr txBox="1"/>
          <p:nvPr/>
        </p:nvSpPr>
        <p:spPr>
          <a:xfrm>
            <a:off x="640080" y="3063240"/>
            <a:ext cx="5074920" cy="1371600"/>
          </a:xfrm>
          <a:prstGeom prst="rect">
            <a:avLst/>
          </a:prstGeom>
          <a:noFill/>
        </p:spPr>
        <p:txBody>
          <a:bodyPr wrap="square" lIns="0" tIns="0" rIns="0" bIns="0" anchor="t">
            <a:noAutofit/>
          </a:bodyPr>
          <a:lstStyle/>
          <a:p>
            <a:pPr algn="l">
              <a:lnSpc>
                <a:spcPct val="108000"/>
              </a:lnSpc>
              <a:spcBef>
                <a:spcPts val="0"/>
              </a:spcBef>
              <a:spcAft>
                <a:spcPts val="800"/>
              </a:spcAft>
            </a:pPr>
            <a:r>
              <a:rPr sz="1200" b="1">
                <a:solidFill>
                  <a:srgbClr val="FFCC00"/>
                </a:solidFill>
                <a:latin typeface="Calibri"/>
              </a:rPr>
              <a:t>▸  </a:t>
            </a:r>
            <a:r>
              <a:rPr sz="1200" b="1">
                <a:solidFill>
                  <a:srgbClr val="990000"/>
                </a:solidFill>
                <a:latin typeface="Calibri"/>
              </a:rPr>
              <a:t>FLUX.1-Fill is the engine — continuation of observed clouds is its training objective; DiT360's only role is its panorama LoRA</a:t>
            </a:r>
          </a:p>
          <a:p>
            <a:pPr algn="l">
              <a:lnSpc>
                <a:spcPct val="108000"/>
              </a:lnSpc>
              <a:spcBef>
                <a:spcPts val="0"/>
              </a:spcBef>
              <a:spcAft>
                <a:spcPts val="800"/>
              </a:spcAft>
            </a:pPr>
            <a:r>
              <a:rPr sz="1200" b="1">
                <a:solidFill>
                  <a:srgbClr val="FFCC00"/>
                </a:solidFill>
                <a:latin typeface="Calibri"/>
              </a:rPr>
              <a:t>▸  </a:t>
            </a:r>
            <a:r>
              <a:rPr sz="1200" b="0">
                <a:solidFill>
                  <a:srgbClr val="1A1410"/>
                </a:solidFill>
                <a:latin typeface="Calibri"/>
              </a:rPr>
              <a:t>Auto-prompt (sunny / dusk / overcast) chosen from observed sky-band statistics — 5/5 scenes correct</a:t>
            </a:r>
          </a:p>
        </p:txBody>
      </p:sp>
      <p:pic>
        <p:nvPicPr>
          <p:cNvPr id="28" name="Picture 27" descr="D4_outpaint.png"/>
          <p:cNvPicPr>
            <a:picLocks noChangeAspect="1"/>
          </p:cNvPicPr>
          <p:nvPr/>
        </p:nvPicPr>
        <p:blipFill>
          <a:blip r:embed="rId3"/>
          <a:stretch>
            <a:fillRect/>
          </a:stretch>
        </p:blipFill>
        <p:spPr>
          <a:xfrm>
            <a:off x="5852160" y="3507592"/>
            <a:ext cx="5760720" cy="203737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FINAL RESULTS</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Complete spheres, multi-weather</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6400800"/>
            <a:ext cx="10908792" cy="365760"/>
          </a:xfrm>
          <a:prstGeom prst="rect">
            <a:avLst/>
          </a:prstGeom>
          <a:noFill/>
        </p:spPr>
        <p:txBody>
          <a:bodyPr wrap="square" lIns="0" tIns="0" rIns="0" bIns="0" anchor="t">
            <a:noAutofit/>
          </a:bodyPr>
          <a:lstStyle/>
          <a:p>
            <a:pPr algn="ctr">
              <a:lnSpc>
                <a:spcPct val="105000"/>
              </a:lnSpc>
              <a:spcBef>
                <a:spcPts val="0"/>
              </a:spcBef>
              <a:spcAft>
                <a:spcPts val="200"/>
              </a:spcAft>
            </a:pPr>
            <a:r>
              <a:rPr sz="1150" b="0">
                <a:solidFill>
                  <a:srgbClr val="6B6058"/>
                </a:solidFill>
                <a:latin typeface="Calibri"/>
              </a:rPr>
              <a:t>bmw sunny cumulus · downtown auto-detected dusk · highway altocumulus continuation — scene band &amp; ground 100% real pixels; sky is the only generated region.</a:t>
            </a:r>
          </a:p>
        </p:txBody>
      </p:sp>
      <p:pic>
        <p:nvPicPr>
          <p:cNvPr id="14" name="Picture 13" descr="image.png"/>
          <p:cNvPicPr>
            <a:picLocks noChangeAspect="1"/>
          </p:cNvPicPr>
          <p:nvPr/>
        </p:nvPicPr>
        <p:blipFill>
          <a:blip r:embed="rId3"/>
          <a:stretch>
            <a:fillRect/>
          </a:stretch>
        </p:blipFill>
        <p:spPr>
          <a:xfrm>
            <a:off x="3078327" y="1691640"/>
            <a:ext cx="6035040" cy="3017520"/>
          </a:xfrm>
          <a:prstGeom prst="rect">
            <a:avLst/>
          </a:prstGeom>
        </p:spPr>
      </p:pic>
      <p:pic>
        <p:nvPicPr>
          <p:cNvPr id="15" name="Picture 14" descr="image.png"/>
          <p:cNvPicPr>
            <a:picLocks noChangeAspect="1"/>
          </p:cNvPicPr>
          <p:nvPr/>
        </p:nvPicPr>
        <p:blipFill>
          <a:blip r:embed="rId4"/>
          <a:stretch>
            <a:fillRect/>
          </a:stretch>
        </p:blipFill>
        <p:spPr>
          <a:xfrm>
            <a:off x="3078327" y="4846320"/>
            <a:ext cx="2944368" cy="1472184"/>
          </a:xfrm>
          <a:prstGeom prst="rect">
            <a:avLst/>
          </a:prstGeom>
        </p:spPr>
      </p:pic>
      <p:pic>
        <p:nvPicPr>
          <p:cNvPr id="16" name="Picture 15" descr="image.png"/>
          <p:cNvPicPr>
            <a:picLocks noChangeAspect="1"/>
          </p:cNvPicPr>
          <p:nvPr/>
        </p:nvPicPr>
        <p:blipFill>
          <a:blip r:embed="rId5"/>
          <a:stretch>
            <a:fillRect/>
          </a:stretch>
        </p:blipFill>
        <p:spPr>
          <a:xfrm>
            <a:off x="6168999" y="4846320"/>
            <a:ext cx="2944368" cy="14721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4008"/>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00" y="0"/>
            <a:ext cx="4873752" cy="64008"/>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6821424"/>
            <a:ext cx="4297680" cy="36576"/>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97680" y="6821424"/>
            <a:ext cx="7891272"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25912" y="6355080"/>
            <a:ext cx="1005840" cy="365760"/>
          </a:xfrm>
          <a:prstGeom prst="rect">
            <a:avLst/>
          </a:prstGeom>
          <a:noFill/>
        </p:spPr>
        <p:txBody>
          <a:bodyPr wrap="square" lIns="0" tIns="0" rIns="0" bIns="0" anchor="t">
            <a:noAutofit/>
          </a:bodyPr>
          <a:lstStyle/>
          <a:p>
            <a:pPr algn="r">
              <a:lnSpc>
                <a:spcPct val="100000"/>
              </a:lnSpc>
              <a:spcBef>
                <a:spcPts val="0"/>
              </a:spcBef>
              <a:spcAft>
                <a:spcPts val="200"/>
              </a:spcAft>
            </a:pPr>
            <a:r>
              <a:rPr sz="1400" b="0">
                <a:solidFill>
                  <a:srgbClr val="990000"/>
                </a:solidFill>
                <a:latin typeface="Calibri"/>
              </a:rPr>
              <a:t>XII</a:t>
            </a:r>
          </a:p>
        </p:txBody>
      </p:sp>
      <p:sp>
        <p:nvSpPr>
          <p:cNvPr id="8" name="Rectangle 7"/>
          <p:cNvSpPr/>
          <p:nvPr/>
        </p:nvSpPr>
        <p:spPr>
          <a:xfrm>
            <a:off x="640080" y="566928"/>
            <a:ext cx="411480" cy="2743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88720" y="457200"/>
            <a:ext cx="8686800" cy="347472"/>
          </a:xfrm>
          <a:prstGeom prst="rect">
            <a:avLst/>
          </a:prstGeom>
          <a:noFill/>
        </p:spPr>
        <p:txBody>
          <a:bodyPr wrap="square" lIns="0" tIns="0" rIns="0" bIns="0" anchor="t">
            <a:noAutofit/>
          </a:bodyPr>
          <a:lstStyle/>
          <a:p>
            <a:pPr algn="l">
              <a:lnSpc>
                <a:spcPct val="100000"/>
              </a:lnSpc>
              <a:spcBef>
                <a:spcPts val="0"/>
              </a:spcBef>
              <a:spcAft>
                <a:spcPts val="200"/>
              </a:spcAft>
            </a:pPr>
            <a:r>
              <a:rPr sz="1300" b="1">
                <a:solidFill>
                  <a:srgbClr val="990000"/>
                </a:solidFill>
                <a:latin typeface="Calibri"/>
              </a:rPr>
              <a:t>CLOSING</a:t>
            </a:r>
          </a:p>
        </p:txBody>
      </p:sp>
      <p:sp>
        <p:nvSpPr>
          <p:cNvPr id="10" name="TextBox 9"/>
          <p:cNvSpPr txBox="1"/>
          <p:nvPr/>
        </p:nvSpPr>
        <p:spPr>
          <a:xfrm>
            <a:off x="640080" y="841248"/>
            <a:ext cx="10908792" cy="914400"/>
          </a:xfrm>
          <a:prstGeom prst="rect">
            <a:avLst/>
          </a:prstGeom>
          <a:noFill/>
        </p:spPr>
        <p:txBody>
          <a:bodyPr wrap="square" lIns="0" tIns="0" rIns="0" bIns="0" anchor="t">
            <a:noAutofit/>
          </a:bodyPr>
          <a:lstStyle/>
          <a:p>
            <a:pPr algn="l">
              <a:lnSpc>
                <a:spcPct val="100000"/>
              </a:lnSpc>
              <a:spcBef>
                <a:spcPts val="0"/>
              </a:spcBef>
              <a:spcAft>
                <a:spcPts val="200"/>
              </a:spcAft>
            </a:pPr>
            <a:r>
              <a:rPr sz="3000" b="1">
                <a:solidFill>
                  <a:srgbClr val="990000"/>
                </a:solidFill>
                <a:latin typeface="Calibri"/>
              </a:rPr>
              <a:t>Principles &amp; next</a:t>
            </a:r>
          </a:p>
        </p:txBody>
      </p:sp>
      <p:sp>
        <p:nvSpPr>
          <p:cNvPr id="11" name="Rectangle 10"/>
          <p:cNvSpPr/>
          <p:nvPr/>
        </p:nvSpPr>
        <p:spPr>
          <a:xfrm>
            <a:off x="640080" y="1755648"/>
            <a:ext cx="640080" cy="36576"/>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PRINCIPLES</a:t>
            </a:r>
          </a:p>
        </p:txBody>
      </p:sp>
      <p:sp>
        <p:nvSpPr>
          <p:cNvPr id="13" name="Rectangle 12"/>
          <p:cNvSpPr/>
          <p:nvPr/>
        </p:nvSpPr>
        <p:spPr>
          <a:xfrm>
            <a:off x="64008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Source-faithful: never invent geometry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Evidence-gated: every pixel has a provenance — real (scene band, ground) vs generated (sky only)</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Abstain honestly where evidence ends</a:t>
            </a:r>
          </a:p>
        </p:txBody>
      </p:sp>
      <p:sp>
        <p:nvSpPr>
          <p:cNvPr id="15" name="TextBox 14"/>
          <p:cNvSpPr txBox="1"/>
          <p:nvPr/>
        </p:nvSpPr>
        <p:spPr>
          <a:xfrm>
            <a:off x="6400800" y="2103120"/>
            <a:ext cx="5349240" cy="310896"/>
          </a:xfrm>
          <a:prstGeom prst="rect">
            <a:avLst/>
          </a:prstGeom>
          <a:noFill/>
        </p:spPr>
        <p:txBody>
          <a:bodyPr wrap="square" lIns="0" tIns="0" rIns="0" bIns="0" anchor="t">
            <a:noAutofit/>
          </a:bodyPr>
          <a:lstStyle/>
          <a:p>
            <a:pPr algn="l">
              <a:lnSpc>
                <a:spcPct val="100000"/>
              </a:lnSpc>
              <a:spcBef>
                <a:spcPts val="0"/>
              </a:spcBef>
              <a:spcAft>
                <a:spcPts val="200"/>
              </a:spcAft>
            </a:pPr>
            <a:r>
              <a:rPr sz="1200" b="1">
                <a:solidFill>
                  <a:srgbClr val="6B6058"/>
                </a:solidFill>
                <a:latin typeface="Calibri"/>
              </a:rPr>
              <a:t>NEXT</a:t>
            </a:r>
          </a:p>
        </p:txBody>
      </p:sp>
      <p:sp>
        <p:nvSpPr>
          <p:cNvPr id="16" name="Rectangle 15"/>
          <p:cNvSpPr/>
          <p:nvPr/>
        </p:nvSpPr>
        <p:spPr>
          <a:xfrm>
            <a:off x="6400800" y="2441448"/>
            <a:ext cx="5349240" cy="10972"/>
          </a:xfrm>
          <a:prstGeom prst="rect">
            <a:avLst/>
          </a:prstGeom>
          <a:solidFill>
            <a:srgbClr val="FFC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606040"/>
            <a:ext cx="5349240" cy="3291840"/>
          </a:xfrm>
          <a:prstGeom prst="rect">
            <a:avLst/>
          </a:prstGeom>
          <a:noFill/>
        </p:spPr>
        <p:txBody>
          <a:bodyPr wrap="square" lIns="0" tIns="0" rIns="0" bIns="0" anchor="t">
            <a:noAutofit/>
          </a:bodyPr>
          <a:lstStyle/>
          <a:p>
            <a:pPr algn="l">
              <a:lnSpc>
                <a:spcPct val="115000"/>
              </a:lnSpc>
              <a:spcBef>
                <a:spcPts val="0"/>
              </a:spcBef>
              <a:spcAft>
                <a:spcPts val="1400"/>
              </a:spcAft>
            </a:pPr>
            <a:r>
              <a:rPr sz="1400" b="1">
                <a:solidFill>
                  <a:srgbClr val="FFCC00"/>
                </a:solidFill>
                <a:latin typeface="Calibri"/>
              </a:rPr>
              <a:t>▸  </a:t>
            </a:r>
            <a:r>
              <a:rPr sz="1400" b="1">
                <a:solidFill>
                  <a:srgbClr val="990000"/>
                </a:solidFill>
                <a:latin typeface="Calibri"/>
              </a:rPr>
              <a:t>Waymo migration — the generalization gate</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Centre contract with the world-model first-frame consumer</a:t>
            </a:r>
          </a:p>
          <a:p>
            <a:pPr algn="l">
              <a:lnSpc>
                <a:spcPct val="115000"/>
              </a:lnSpc>
              <a:spcBef>
                <a:spcPts val="0"/>
              </a:spcBef>
              <a:spcAft>
                <a:spcPts val="1400"/>
              </a:spcAft>
            </a:pPr>
            <a:r>
              <a:rPr sz="1400" b="1">
                <a:solidFill>
                  <a:srgbClr val="FFCC00"/>
                </a:solidFill>
                <a:latin typeface="Calibri"/>
              </a:rPr>
              <a:t>▸  </a:t>
            </a:r>
            <a:r>
              <a:rPr sz="1400" b="0">
                <a:solidFill>
                  <a:srgbClr val="1A1410"/>
                </a:solidFill>
                <a:latin typeface="Calibri"/>
              </a:rPr>
              <a:t>Dataset scaling: 75-panorama AV2 set already produced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347</TotalTime>
  <Words>2749</Words>
  <Application>Microsoft Office PowerPoint</Application>
  <PresentationFormat>Widescreen</PresentationFormat>
  <Paragraphs>177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e15042</cp:lastModifiedBy>
  <cp:revision>26</cp:revision>
  <dcterms:created xsi:type="dcterms:W3CDTF">2013-01-27T09:14:16Z</dcterms:created>
  <dcterms:modified xsi:type="dcterms:W3CDTF">2026-06-12T08:31:50Z</dcterms:modified>
  <cp:category/>
</cp:coreProperties>
</file>