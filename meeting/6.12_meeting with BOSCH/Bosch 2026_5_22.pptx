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  <p:sldMasterId id="2147483685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70" r:id="rId14"/>
    <p:sldId id="271" r:id="rId15"/>
    <p:sldId id="272" r:id="rId16"/>
  </p:sldIdLst>
  <p:sldSz cx="9144000" cy="5143500" type="screen16x9"/>
  <p:notesSz cx="6858000" cy="9144000"/>
  <p:embeddedFontLst>
    <p:embeddedFont>
      <p:font typeface="Hanken Grotesk" panose="020B0604020202020204" charset="0"/>
      <p:regular r:id="rId18"/>
      <p:bold r:id="rId19"/>
      <p:italic r:id="rId20"/>
      <p:boldItalic r:id="rId21"/>
    </p:embeddedFont>
    <p:embeddedFont>
      <p:font typeface="Raleway Black" panose="020F0502020204030204" pitchFamily="2" charset="0"/>
      <p:bold r:id="rId22"/>
      <p:boldItalic r:id="rId23"/>
    </p:embeddedFont>
    <p:embeddedFont>
      <p:font typeface="Raleway ExtraBold" panose="020F0502020204030204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B3670B-F1EA-40AF-9631-C954C6E81A48}">
  <a:tblStyle styleId="{73B3670B-F1EA-40AF-9631-C954C6E81A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FEFD381-02F9-4FE1-8187-D9DAF5C9651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293A5B3-1C49-4883-8073-328E225F2886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07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e2d963da45_2_6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5" name="Google Shape;705;g3e2d963da45_2_6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e2d963da45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3" name="Google Shape;743;g3e2d963da45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e2d963da45_4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g3e2d963da45_4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e9b0ced1e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1" name="Google Shape;761;g3e9b0ced1e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e2d963da45_4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0" name="Google Shape;770;g3e2d963da45_4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e9b0ced1e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9" name="Google Shape;779;g3e9b0ced1e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e9b0ced1e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9" name="Google Shape;789;g3e9b0ced1e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e9b0ced1ec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8" name="Google Shape;798;g3e9b0ced1ec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e9b0ced1e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8" name="Google Shape;808;g3e9b0ced1e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e2d963da45_4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2" name="Google Shape;872;g3e2d963da45_4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e2d963da45_3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1" name="Google Shape;881;g3e2d963da45_3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e2d963da45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8" name="Google Shape;888;g3e2d963da45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e9b0ced1e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7" name="Google Shape;897;g3e9b0ced1e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e2d963da45_2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5" name="Google Shape;905;g3e2d963da45_2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57" name="Google Shape;57;p14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" name="Google Shape;59;p14"/>
          <p:cNvGrpSpPr/>
          <p:nvPr/>
        </p:nvGrpSpPr>
        <p:grpSpPr>
          <a:xfrm>
            <a:off x="8208698" y="2109318"/>
            <a:ext cx="1160061" cy="247279"/>
            <a:chOff x="8208698" y="2109318"/>
            <a:chExt cx="1160061" cy="247279"/>
          </a:xfrm>
        </p:grpSpPr>
        <p:sp>
          <p:nvSpPr>
            <p:cNvPr id="60" name="Google Shape;60;p14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14"/>
          <p:cNvGrpSpPr/>
          <p:nvPr/>
        </p:nvGrpSpPr>
        <p:grpSpPr>
          <a:xfrm rot="5400000" flipH="1">
            <a:off x="6933401" y="2759016"/>
            <a:ext cx="2550619" cy="3872400"/>
            <a:chOff x="1857762" y="2762827"/>
            <a:chExt cx="2550619" cy="3872400"/>
          </a:xfrm>
        </p:grpSpPr>
        <p:cxnSp>
          <p:nvCxnSpPr>
            <p:cNvPr id="63" name="Google Shape;63;p14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14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5" name="Google Shape;65;p14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3" cy="1266614"/>
          </a:xfrm>
        </p:grpSpPr>
        <p:sp>
          <p:nvSpPr>
            <p:cNvPr id="67" name="Google Shape;67;p14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72" name="Google Shape;72;p15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73" name="Google Shape;73;p15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" name="Google Shape;75;p1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76" name="Google Shape;76;p1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" name="Google Shape;78;p15"/>
          <p:cNvGrpSpPr/>
          <p:nvPr/>
        </p:nvGrpSpPr>
        <p:grpSpPr>
          <a:xfrm>
            <a:off x="-1181862" y="-331600"/>
            <a:ext cx="11020271" cy="5673388"/>
            <a:chOff x="-1181862" y="-331600"/>
            <a:chExt cx="11020271" cy="5673388"/>
          </a:xfrm>
        </p:grpSpPr>
        <p:grpSp>
          <p:nvGrpSpPr>
            <p:cNvPr id="79" name="Google Shape;79;p15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80" name="Google Shape;80;p1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1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2" name="Google Shape;82;p1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" name="Google Shape;83;p1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" name="Google Shape;84;p1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85" name="Google Shape;85;p15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86" name="Google Shape;86;p15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3" cy="1266614"/>
            </a:xfrm>
          </p:grpSpPr>
          <p:sp>
            <p:nvSpPr>
              <p:cNvPr id="87" name="Google Shape;87;p1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" name="Google Shape;89;p15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90" name="Google Shape;90;p15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3" cy="1266614"/>
            </a:xfrm>
          </p:grpSpPr>
          <p:sp>
            <p:nvSpPr>
              <p:cNvPr id="91" name="Google Shape;91;p1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94" name="Google Shape;94;p1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" name="Google Shape;95;p1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1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" name="Google Shape;97;p1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" name="Google Shape;98;p1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99" name="Google Shape;99;p15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100" name="Google Shape;100;p15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1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28" name="Google Shape;528;p31"/>
          <p:cNvGrpSpPr/>
          <p:nvPr/>
        </p:nvGrpSpPr>
        <p:grpSpPr>
          <a:xfrm rot="10800000">
            <a:off x="7395131" y="2150405"/>
            <a:ext cx="2855469" cy="3872400"/>
            <a:chOff x="1857762" y="2762827"/>
            <a:chExt cx="2855469" cy="3872400"/>
          </a:xfrm>
        </p:grpSpPr>
        <p:cxnSp>
          <p:nvCxnSpPr>
            <p:cNvPr id="529" name="Google Shape;529;p31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0" name="Google Shape;530;p31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31" name="Google Shape;531;p31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31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533" name="Google Shape;533;p31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1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" name="Google Shape;535;p31"/>
          <p:cNvGrpSpPr/>
          <p:nvPr/>
        </p:nvGrpSpPr>
        <p:grpSpPr>
          <a:xfrm>
            <a:off x="-3151463" y="-3408102"/>
            <a:ext cx="11831667" cy="9065208"/>
            <a:chOff x="-3151463" y="-3408102"/>
            <a:chExt cx="11831667" cy="9065208"/>
          </a:xfrm>
        </p:grpSpPr>
        <p:grpSp>
          <p:nvGrpSpPr>
            <p:cNvPr id="536" name="Google Shape;536;p31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537" name="Google Shape;537;p3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8" name="Google Shape;538;p3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9" name="Google Shape;539;p3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0" name="Google Shape;540;p31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541" name="Google Shape;541;p3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2" name="Google Shape;542;p3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43" name="Google Shape;543;p3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4" name="Google Shape;544;p31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545" name="Google Shape;545;p31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6" name="Google Shape;546;p31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p31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p31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p31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0" name="Google Shape;550;p3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1" name="Google Shape;551;p3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2" name="Google Shape;552;p3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3" name="Google Shape;553;p3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4" name="Google Shape;554;p3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555" name="Google Shape;555;p31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556" name="Google Shape;556;p31"/>
          <p:cNvGrpSpPr/>
          <p:nvPr/>
        </p:nvGrpSpPr>
        <p:grpSpPr>
          <a:xfrm>
            <a:off x="547096" y="974375"/>
            <a:ext cx="9244447" cy="3848385"/>
            <a:chOff x="547096" y="974375"/>
            <a:chExt cx="9244447" cy="3848385"/>
          </a:xfrm>
        </p:grpSpPr>
        <p:grpSp>
          <p:nvGrpSpPr>
            <p:cNvPr id="557" name="Google Shape;557;p31"/>
            <p:cNvGrpSpPr/>
            <p:nvPr/>
          </p:nvGrpSpPr>
          <p:grpSpPr>
            <a:xfrm>
              <a:off x="547096" y="3571493"/>
              <a:ext cx="9010768" cy="1251267"/>
              <a:chOff x="547096" y="3571493"/>
              <a:chExt cx="9010768" cy="1251267"/>
            </a:xfrm>
          </p:grpSpPr>
          <p:grpSp>
            <p:nvGrpSpPr>
              <p:cNvPr id="558" name="Google Shape;558;p31"/>
              <p:cNvGrpSpPr/>
              <p:nvPr/>
            </p:nvGrpSpPr>
            <p:grpSpPr>
              <a:xfrm>
                <a:off x="547096" y="36133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559" name="Google Shape;559;p31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0" name="Google Shape;560;p31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61" name="Google Shape;561;p31"/>
              <p:cNvGrpSpPr/>
              <p:nvPr/>
            </p:nvGrpSpPr>
            <p:grpSpPr>
              <a:xfrm rot="5400000">
                <a:off x="8818297" y="31016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562" name="Google Shape;562;p31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" name="Google Shape;563;p31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64" name="Google Shape;564;p31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565" name="Google Shape;565;p3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3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2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32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570" name="Google Shape;570;p32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1" name="Google Shape;571;p32"/>
          <p:cNvGrpSpPr/>
          <p:nvPr/>
        </p:nvGrpSpPr>
        <p:grpSpPr>
          <a:xfrm>
            <a:off x="-2757425" y="-2776080"/>
            <a:ext cx="12134201" cy="9442910"/>
            <a:chOff x="-2757425" y="-2776080"/>
            <a:chExt cx="12134201" cy="9442910"/>
          </a:xfrm>
        </p:grpSpPr>
        <p:grpSp>
          <p:nvGrpSpPr>
            <p:cNvPr id="572" name="Google Shape;572;p32"/>
            <p:cNvGrpSpPr/>
            <p:nvPr/>
          </p:nvGrpSpPr>
          <p:grpSpPr>
            <a:xfrm rot="-5400000" flipH="1">
              <a:off x="-325952" y="151466"/>
              <a:ext cx="2855469" cy="3872400"/>
              <a:chOff x="1857762" y="2762827"/>
              <a:chExt cx="2855469" cy="3872400"/>
            </a:xfrm>
          </p:grpSpPr>
          <p:cxnSp>
            <p:nvCxnSpPr>
              <p:cNvPr id="573" name="Google Shape;573;p32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4" name="Google Shape;574;p32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75" name="Google Shape;575;p32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6" name="Google Shape;576;p32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577" name="Google Shape;577;p32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78" name="Google Shape;578;p32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79" name="Google Shape;579;p32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0" name="Google Shape;580;p32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581" name="Google Shape;581;p32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2" name="Google Shape;582;p32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83" name="Google Shape;583;p32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4" name="Google Shape;584;p32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585" name="Google Shape;585;p32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6" name="Google Shape;586;p32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7" name="Google Shape;587;p32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8" name="Google Shape;588;p32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9" name="Google Shape;589;p32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0" name="Google Shape;590;p3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1" name="Google Shape;591;p3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2" name="Google Shape;592;p3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3" name="Google Shape;593;p3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4" name="Google Shape;594;p3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595" name="Google Shape;595;p32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596" name="Google Shape;596;p32"/>
          <p:cNvGrpSpPr/>
          <p:nvPr/>
        </p:nvGrpSpPr>
        <p:grpSpPr>
          <a:xfrm>
            <a:off x="-157525" y="1684573"/>
            <a:ext cx="8689056" cy="440880"/>
            <a:chOff x="-157525" y="1684573"/>
            <a:chExt cx="8689056" cy="440880"/>
          </a:xfrm>
        </p:grpSpPr>
        <p:sp>
          <p:nvSpPr>
            <p:cNvPr id="597" name="Google Shape;597;p32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2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32"/>
          <p:cNvGrpSpPr/>
          <p:nvPr/>
        </p:nvGrpSpPr>
        <p:grpSpPr>
          <a:xfrm>
            <a:off x="-350826" y="649496"/>
            <a:ext cx="9280380" cy="5170922"/>
            <a:chOff x="-350826" y="649496"/>
            <a:chExt cx="9280380" cy="5170922"/>
          </a:xfrm>
        </p:grpSpPr>
        <p:grpSp>
          <p:nvGrpSpPr>
            <p:cNvPr id="600" name="Google Shape;600;p32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601" name="Google Shape;601;p32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32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2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5" name="Google Shape;605;p32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606" name="Google Shape;606;p3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3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3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0" name="Google Shape;610;p33"/>
          <p:cNvGrpSpPr/>
          <p:nvPr/>
        </p:nvGrpSpPr>
        <p:grpSpPr>
          <a:xfrm>
            <a:off x="-530043" y="-2869459"/>
            <a:ext cx="9459678" cy="5795405"/>
            <a:chOff x="-530043" y="-2869459"/>
            <a:chExt cx="9459678" cy="5795405"/>
          </a:xfrm>
        </p:grpSpPr>
        <p:grpSp>
          <p:nvGrpSpPr>
            <p:cNvPr id="611" name="Google Shape;611;p33"/>
            <p:cNvGrpSpPr/>
            <p:nvPr/>
          </p:nvGrpSpPr>
          <p:grpSpPr>
            <a:xfrm>
              <a:off x="-530043" y="-946454"/>
              <a:ext cx="2550619" cy="3872400"/>
              <a:chOff x="1857762" y="2762827"/>
              <a:chExt cx="2550619" cy="3872400"/>
            </a:xfrm>
          </p:grpSpPr>
          <p:cxnSp>
            <p:nvCxnSpPr>
              <p:cNvPr id="612" name="Google Shape;612;p33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3" name="Google Shape;613;p33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614" name="Google Shape;614;p33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5" name="Google Shape;615;p33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616" name="Google Shape;616;p33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7" name="Google Shape;617;p33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8" name="Google Shape;618;p33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19" name="Google Shape;619;p33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0" name="Google Shape;620;p33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1" name="Google Shape;621;p3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2" name="Google Shape;622;p3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3" name="Google Shape;623;p3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4" name="Google Shape;624;p3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5" name="Google Shape;625;p3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626" name="Google Shape;626;p33"/>
            <p:cNvGrpSpPr/>
            <p:nvPr/>
          </p:nvGrpSpPr>
          <p:grpSpPr>
            <a:xfrm>
              <a:off x="8248398" y="-1632737"/>
              <a:ext cx="681236" cy="3360485"/>
              <a:chOff x="8248398" y="-1632737"/>
              <a:chExt cx="681236" cy="3360485"/>
            </a:xfrm>
          </p:grpSpPr>
          <p:grpSp>
            <p:nvGrpSpPr>
              <p:cNvPr id="627" name="Google Shape;627;p33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628" name="Google Shape;628;p33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629" name="Google Shape;629;p33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630" name="Google Shape;630;p33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31" name="Google Shape;631;p33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3" cy="1266614"/>
              </a:xfrm>
            </p:grpSpPr>
            <p:sp>
              <p:nvSpPr>
                <p:cNvPr id="632" name="Google Shape;632;p33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3" name="Google Shape;633;p33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634" name="Google Shape;634;p33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635" name="Google Shape;635;p33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3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7" name="Google Shape;637;p33"/>
          <p:cNvGrpSpPr/>
          <p:nvPr/>
        </p:nvGrpSpPr>
        <p:grpSpPr>
          <a:xfrm>
            <a:off x="-201760" y="1366772"/>
            <a:ext cx="9923303" cy="3117921"/>
            <a:chOff x="-201760" y="1366772"/>
            <a:chExt cx="9923303" cy="3117921"/>
          </a:xfrm>
        </p:grpSpPr>
        <p:grpSp>
          <p:nvGrpSpPr>
            <p:cNvPr id="638" name="Google Shape;638;p33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639" name="Google Shape;639;p3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1" name="Google Shape;641;p33"/>
            <p:cNvGrpSpPr/>
            <p:nvPr/>
          </p:nvGrpSpPr>
          <p:grpSpPr>
            <a:xfrm flipH="1">
              <a:off x="8674231" y="1727755"/>
              <a:ext cx="247278" cy="1160061"/>
              <a:chOff x="1463894" y="1434556"/>
              <a:chExt cx="247278" cy="1160061"/>
            </a:xfrm>
          </p:grpSpPr>
          <p:sp>
            <p:nvSpPr>
              <p:cNvPr id="642" name="Google Shape;642;p3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3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4" name="Google Shape;644;p33"/>
            <p:cNvGrpSpPr/>
            <p:nvPr/>
          </p:nvGrpSpPr>
          <p:grpSpPr>
            <a:xfrm rot="5400000" flipH="1">
              <a:off x="254632" y="910381"/>
              <a:ext cx="247278" cy="1160061"/>
              <a:chOff x="1463894" y="1434556"/>
              <a:chExt cx="247278" cy="1160061"/>
            </a:xfrm>
          </p:grpSpPr>
          <p:sp>
            <p:nvSpPr>
              <p:cNvPr id="645" name="Google Shape;645;p3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3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35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50" name="Google Shape;650;p35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5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2" name="Google Shape;652;p35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53" name="Google Shape;653;p3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3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55" name="Google Shape;655;p35"/>
          <p:cNvGrpSpPr/>
          <p:nvPr/>
        </p:nvGrpSpPr>
        <p:grpSpPr>
          <a:xfrm>
            <a:off x="-796767" y="-1090157"/>
            <a:ext cx="11445399" cy="6549695"/>
            <a:chOff x="-796766" y="-1090157"/>
            <a:chExt cx="11445399" cy="6549695"/>
          </a:xfrm>
        </p:grpSpPr>
        <p:sp>
          <p:nvSpPr>
            <p:cNvPr id="656" name="Google Shape;656;p35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657" name="Google Shape;657;p35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3" cy="1266614"/>
            </a:xfrm>
          </p:grpSpPr>
          <p:sp>
            <p:nvSpPr>
              <p:cNvPr id="658" name="Google Shape;658;p3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3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0" name="Google Shape;660;p35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661" name="Google Shape;661;p35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3" cy="1266614"/>
            </a:xfrm>
          </p:grpSpPr>
          <p:sp>
            <p:nvSpPr>
              <p:cNvPr id="662" name="Google Shape;662;p3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3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4" name="Google Shape;664;p35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65" name="Google Shape;665;p3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6" name="Google Shape;666;p3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7" name="Google Shape;667;p3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8" name="Google Shape;668;p3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9" name="Google Shape;669;p3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670" name="Google Shape;670;p35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71" name="Google Shape;671;p35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5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3" name="Google Shape;673;p3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" name="Google Shape;675;p36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76" name="Google Shape;676;p3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8" name="Google Shape;678;p3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79" name="Google Shape;679;p3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3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81" name="Google Shape;681;p36"/>
          <p:cNvGrpSpPr/>
          <p:nvPr/>
        </p:nvGrpSpPr>
        <p:grpSpPr>
          <a:xfrm>
            <a:off x="315625" y="1279781"/>
            <a:ext cx="8602485" cy="1562435"/>
            <a:chOff x="174750" y="1380581"/>
            <a:chExt cx="8602485" cy="1562435"/>
          </a:xfrm>
        </p:grpSpPr>
        <p:sp>
          <p:nvSpPr>
            <p:cNvPr id="682" name="Google Shape;682;p3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36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" name="Google Shape;684;p36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85" name="Google Shape;685;p36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3" cy="1266614"/>
            </a:xfrm>
          </p:grpSpPr>
          <p:sp>
            <p:nvSpPr>
              <p:cNvPr id="686" name="Google Shape;686;p3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3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8" name="Google Shape;688;p3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89" name="Google Shape;689;p3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0" name="Google Shape;690;p3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1" name="Google Shape;691;p3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2" name="Google Shape;692;p3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3" name="Google Shape;693;p3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694" name="Google Shape;694;p3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695" name="Google Shape;695;p36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696" name="Google Shape;696;p3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3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7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bit.ly/33VAFh3" TargetMode="External"/><Relationship Id="rId11" Type="http://schemas.openxmlformats.org/officeDocument/2006/relationships/hyperlink" Target="https://www.videvo.net/?utm_source=slidesgo_template&amp;utm_medium=referral-link&amp;utm_campaign=sg_resources&amp;utm_content=videvo" TargetMode="External"/><Relationship Id="rId5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4" Type="http://schemas.openxmlformats.org/officeDocument/2006/relationships/hyperlink" Target="https://bit.ly/3A1uf1Q" TargetMode="External"/><Relationship Id="rId9" Type="http://schemas.openxmlformats.org/officeDocument/2006/relationships/hyperlink" Target="https://storyset.com/?utm_source=slidesgo_template&amp;utm_medium=referral-link&amp;utm_campaign=promo-slide&amp;utm_term=slidesgo&amp;utm_content=storyse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0"/>
          <p:cNvSpPr txBox="1">
            <a:spLocks noGrp="1"/>
          </p:cNvSpPr>
          <p:nvPr>
            <p:ph type="ctrTitle"/>
          </p:nvPr>
        </p:nvSpPr>
        <p:spPr>
          <a:xfrm>
            <a:off x="1115975" y="542725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BOSCH  RESEARCH</a:t>
            </a:r>
            <a:br>
              <a:rPr lang="en"/>
            </a:br>
            <a:r>
              <a:rPr lang="en"/>
              <a:t> </a:t>
            </a:r>
            <a:endParaRPr/>
          </a:p>
        </p:txBody>
      </p:sp>
      <p:sp>
        <p:nvSpPr>
          <p:cNvPr id="708" name="Google Shape;708;p40"/>
          <p:cNvSpPr txBox="1">
            <a:spLocks noGrp="1"/>
          </p:cNvSpPr>
          <p:nvPr>
            <p:ph type="subTitle" idx="1"/>
          </p:nvPr>
        </p:nvSpPr>
        <p:spPr>
          <a:xfrm>
            <a:off x="1171375" y="3889250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Louison Lu</a:t>
            </a:r>
            <a:endParaRPr/>
          </a:p>
        </p:txBody>
      </p:sp>
      <p:sp>
        <p:nvSpPr>
          <p:cNvPr id="709" name="Google Shape;709;p40"/>
          <p:cNvSpPr/>
          <p:nvPr/>
        </p:nvSpPr>
        <p:spPr>
          <a:xfrm rot="-5400000">
            <a:off x="689075" y="22155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0" name="Google Shape;710;p40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711" name="Google Shape;711;p40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712" name="Google Shape;712;p40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3" name="Google Shape;713;p40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14" name="Google Shape;714;p40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5" name="Google Shape;715;p40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0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0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8" name="Google Shape;718;p40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719" name="Google Shape;719;p40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20" name="Google Shape;720;p40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21" name="Google Shape;721;p40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2" name="Google Shape;722;p40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3" name="Google Shape;723;p40"/>
          <p:cNvGrpSpPr/>
          <p:nvPr/>
        </p:nvGrpSpPr>
        <p:grpSpPr>
          <a:xfrm rot="10800000" flipH="1">
            <a:off x="-132088" y="-1630770"/>
            <a:ext cx="2855469" cy="3872400"/>
            <a:chOff x="1857762" y="2762827"/>
            <a:chExt cx="2855469" cy="3872400"/>
          </a:xfrm>
        </p:grpSpPr>
        <p:cxnSp>
          <p:nvCxnSpPr>
            <p:cNvPr id="724" name="Google Shape;724;p40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25" name="Google Shape;725;p40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26" name="Google Shape;726;p40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7" name="Google Shape;727;p40"/>
          <p:cNvGrpSpPr/>
          <p:nvPr/>
        </p:nvGrpSpPr>
        <p:grpSpPr>
          <a:xfrm>
            <a:off x="3329300" y="-3035952"/>
            <a:ext cx="6471825" cy="4623428"/>
            <a:chOff x="3329300" y="-3035952"/>
            <a:chExt cx="6471825" cy="4623428"/>
          </a:xfrm>
        </p:grpSpPr>
        <p:grpSp>
          <p:nvGrpSpPr>
            <p:cNvPr id="728" name="Google Shape;728;p40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729" name="Google Shape;729;p4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0" name="Google Shape;730;p4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1" name="Google Shape;731;p4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2" name="Google Shape;732;p4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3" name="Google Shape;733;p4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4" name="Google Shape;734;p4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5" name="Google Shape;735;p4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6" name="Google Shape;736;p4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7" name="Google Shape;737;p4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8" name="Google Shape;738;p4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739" name="Google Shape;739;p40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0" name="Google Shape;740;p40"/>
          <p:cNvSpPr txBox="1">
            <a:spLocks noGrp="1"/>
          </p:cNvSpPr>
          <p:nvPr>
            <p:ph type="ctrTitle"/>
          </p:nvPr>
        </p:nvSpPr>
        <p:spPr>
          <a:xfrm>
            <a:off x="1115975" y="1824025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400"/>
              <a:t>Goal : combine multiple perspective view to Panorama 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Dataset</a:t>
            </a:r>
            <a:endParaRPr/>
          </a:p>
        </p:txBody>
      </p:sp>
      <p:pic>
        <p:nvPicPr>
          <p:cNvPr id="746" name="Google Shape;7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550" y="1034813"/>
            <a:ext cx="1303375" cy="130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41"/>
          <p:cNvPicPr preferRelativeResize="0"/>
          <p:nvPr/>
        </p:nvPicPr>
        <p:blipFill rotWithShape="1">
          <a:blip r:embed="rId4">
            <a:alphaModFix/>
          </a:blip>
          <a:srcRect l="-8249" t="-13509" b="5261"/>
          <a:stretch/>
        </p:blipFill>
        <p:spPr>
          <a:xfrm>
            <a:off x="5638800" y="924200"/>
            <a:ext cx="1303375" cy="122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1"/>
          <p:cNvSpPr txBox="1"/>
          <p:nvPr/>
        </p:nvSpPr>
        <p:spPr>
          <a:xfrm>
            <a:off x="837938" y="2204375"/>
            <a:ext cx="3774600" cy="21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Waymo End-to-End Driving Dataset ：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8  camera：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3 Front :front、front-left、front-right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2 Side : side-left、side-right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3 Back :back、back-left、back-right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rolling shutter timing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cons：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rolling shutter will cause jelly effect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9" name="Google Shape;749;p41"/>
          <p:cNvSpPr txBox="1"/>
          <p:nvPr/>
        </p:nvSpPr>
        <p:spPr>
          <a:xfrm>
            <a:off x="5054125" y="2204375"/>
            <a:ext cx="3000000" cy="19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Argoverse 2 Sensor Dataset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7 個 cameras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3 Front :front、front-left、front-right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2 Side : side-left、side-right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Char char="●"/>
            </a:pPr>
            <a:r>
              <a:rPr lang="en" sz="1100" b="1">
                <a:solidFill>
                  <a:srgbClr val="FF0000"/>
                </a:solidFill>
              </a:rPr>
              <a:t>2 Back : back-left、back-right</a:t>
            </a:r>
            <a:endParaRPr sz="1100" b="1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Global shutter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Dataset</a:t>
            </a:r>
            <a:endParaRPr/>
          </a:p>
        </p:txBody>
      </p:sp>
      <p:pic>
        <p:nvPicPr>
          <p:cNvPr id="755" name="Google Shape;75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550" y="1034813"/>
            <a:ext cx="1303375" cy="13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42"/>
          <p:cNvSpPr txBox="1"/>
          <p:nvPr/>
        </p:nvSpPr>
        <p:spPr>
          <a:xfrm>
            <a:off x="837938" y="2204375"/>
            <a:ext cx="37746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Not same size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Front and Side camara is </a:t>
            </a:r>
            <a:r>
              <a:rPr lang="en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972x1079（Straight）</a:t>
            </a:r>
            <a:r>
              <a:rPr lang="en" sz="1000">
                <a:solidFill>
                  <a:schemeClr val="dk1"/>
                </a:solidFill>
              </a:rPr>
              <a:t>，the back is  </a:t>
            </a:r>
            <a:r>
              <a:rPr lang="en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972x587 / 972x551 / 972x587（Horizontal）</a:t>
            </a:r>
            <a:r>
              <a:rPr lang="en" sz="1000">
                <a:solidFill>
                  <a:schemeClr val="dk1"/>
                </a:solidFill>
              </a:rPr>
              <a:t>。Each camera around 47 degree（each frame will overlap 1~2 degree）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Each camera have their intrinsic / extrinsic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Parallax =&gt; no too bad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757" name="Google Shape;757;p42" title="frame_000000_camera_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8426" y="1072513"/>
            <a:ext cx="1790475" cy="19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42" title="frame_000000_camera_0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5674" y="3114875"/>
            <a:ext cx="3506213" cy="19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764" name="Google Shape;764;p43"/>
          <p:cNvSpPr txBox="1"/>
          <p:nvPr/>
        </p:nvSpPr>
        <p:spPr>
          <a:xfrm>
            <a:off x="837938" y="2204375"/>
            <a:ext cx="3774600" cy="3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Only front is </a:t>
            </a:r>
            <a:r>
              <a:rPr lang="en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1550 x 2048（Straight）</a:t>
            </a:r>
            <a:r>
              <a:rPr lang="en" sz="1000">
                <a:solidFill>
                  <a:schemeClr val="dk1"/>
                </a:solidFill>
              </a:rPr>
              <a:t>，the other is  </a:t>
            </a:r>
            <a:r>
              <a:rPr lang="en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2048 x 1550（Horizontal）</a:t>
            </a:r>
            <a:r>
              <a:rPr lang="en" sz="1000">
                <a:solidFill>
                  <a:schemeClr val="dk1"/>
                </a:solidFill>
              </a:rPr>
              <a:t>。Each camera around 47 degree and 60 degree（each frame will overlap 8~9 degree）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Each camera have their intrinsic / extrinsic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AutoNum type="arabicPeriod"/>
            </a:pPr>
            <a:r>
              <a:rPr lang="en" sz="1000">
                <a:solidFill>
                  <a:srgbClr val="FF0000"/>
                </a:solidFill>
              </a:rPr>
              <a:t>Parallax =&gt;  Bad. </a:t>
            </a:r>
            <a:endParaRPr sz="1000">
              <a:solidFill>
                <a:srgbClr val="FF0000"/>
              </a:solidFill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The AV2 cameras are </a:t>
            </a:r>
            <a:r>
              <a:rPr lang="en" sz="1000">
                <a:solidFill>
                  <a:srgbClr val="FF0000"/>
                </a:solidFill>
              </a:rPr>
              <a:t>more downward-facing</a:t>
            </a:r>
            <a:r>
              <a:rPr lang="en" sz="1000">
                <a:solidFill>
                  <a:schemeClr val="dk1"/>
                </a:solidFill>
              </a:rPr>
              <a:t>. more sensitive to road markings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765" name="Google Shape;765;p43"/>
          <p:cNvPicPr preferRelativeResize="0"/>
          <p:nvPr/>
        </p:nvPicPr>
        <p:blipFill rotWithShape="1">
          <a:blip r:embed="rId3">
            <a:alphaModFix/>
          </a:blip>
          <a:srcRect l="-8249" t="-13509" b="5261"/>
          <a:stretch/>
        </p:blipFill>
        <p:spPr>
          <a:xfrm>
            <a:off x="1598675" y="977675"/>
            <a:ext cx="1303375" cy="12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43" title="31596825154992722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2921" y="617550"/>
            <a:ext cx="1764198" cy="2330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43" title="31596825153742543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2918" y="3141425"/>
            <a:ext cx="2368215" cy="179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Original </a:t>
            </a:r>
            <a:endParaRPr/>
          </a:p>
        </p:txBody>
      </p:sp>
      <p:pic>
        <p:nvPicPr>
          <p:cNvPr id="773" name="Google Shape;773;p44" title="frame_000000_ordered_no_resize.jpg"/>
          <p:cNvPicPr preferRelativeResize="0"/>
          <p:nvPr/>
        </p:nvPicPr>
        <p:blipFill rotWithShape="1">
          <a:blip r:embed="rId3">
            <a:alphaModFix/>
          </a:blip>
          <a:srcRect l="-5745" t="-34553" r="-28808"/>
          <a:stretch/>
        </p:blipFill>
        <p:spPr>
          <a:xfrm>
            <a:off x="0" y="2571750"/>
            <a:ext cx="11035100" cy="153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4875" y="1182988"/>
            <a:ext cx="1303375" cy="130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44" title="frame_000000_ordered_no_resize.jpg"/>
          <p:cNvPicPr preferRelativeResize="0"/>
          <p:nvPr/>
        </p:nvPicPr>
        <p:blipFill rotWithShape="1">
          <a:blip r:embed="rId3">
            <a:alphaModFix/>
          </a:blip>
          <a:srcRect l="45887" t="21838" r="43528"/>
          <a:stretch/>
        </p:blipFill>
        <p:spPr>
          <a:xfrm>
            <a:off x="6595427" y="902650"/>
            <a:ext cx="1699773" cy="17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44" title="frame_000000_ordered_no_resize.jpg"/>
          <p:cNvPicPr preferRelativeResize="0"/>
          <p:nvPr/>
        </p:nvPicPr>
        <p:blipFill rotWithShape="1">
          <a:blip r:embed="rId3">
            <a:alphaModFix/>
          </a:blip>
          <a:srcRect l="19533" t="21838" r="69882"/>
          <a:stretch/>
        </p:blipFill>
        <p:spPr>
          <a:xfrm>
            <a:off x="4179727" y="964463"/>
            <a:ext cx="1699773" cy="17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After (geometry-based)   </a:t>
            </a:r>
            <a:endParaRPr/>
          </a:p>
        </p:txBody>
      </p:sp>
      <p:pic>
        <p:nvPicPr>
          <p:cNvPr id="782" name="Google Shape;782;p45" title="frame_000000_pvps_er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66287"/>
            <a:ext cx="5798723" cy="2899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45" title="frame_000000_pvps_erp.jpg"/>
          <p:cNvPicPr preferRelativeResize="0"/>
          <p:nvPr/>
        </p:nvPicPr>
        <p:blipFill rotWithShape="1">
          <a:blip r:embed="rId3">
            <a:alphaModFix/>
          </a:blip>
          <a:srcRect l="53265" t="43726" r="41269" b="40769"/>
          <a:stretch/>
        </p:blipFill>
        <p:spPr>
          <a:xfrm>
            <a:off x="6428650" y="349475"/>
            <a:ext cx="1699773" cy="2410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45" title="frame_000000_pvps_erp.jpg"/>
          <p:cNvPicPr preferRelativeResize="0"/>
          <p:nvPr/>
        </p:nvPicPr>
        <p:blipFill rotWithShape="1">
          <a:blip r:embed="rId3">
            <a:alphaModFix/>
          </a:blip>
          <a:srcRect l="28569" t="43106" r="65965" b="41390"/>
          <a:stretch/>
        </p:blipFill>
        <p:spPr>
          <a:xfrm>
            <a:off x="4829125" y="620826"/>
            <a:ext cx="1508449" cy="2139351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45"/>
          <p:cNvSpPr txBox="1"/>
          <p:nvPr/>
        </p:nvSpPr>
        <p:spPr>
          <a:xfrm>
            <a:off x="5798725" y="3600650"/>
            <a:ext cx="3370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Size : 4096 x 2048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Ratio : 2:1 ERP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covered pixels: 23.11%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786" name="Google Shape;78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750" y="944870"/>
            <a:ext cx="832550" cy="83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Original </a:t>
            </a:r>
            <a:endParaRPr/>
          </a:p>
        </p:txBody>
      </p:sp>
      <p:pic>
        <p:nvPicPr>
          <p:cNvPr id="792" name="Google Shape;792;p46"/>
          <p:cNvPicPr preferRelativeResize="0"/>
          <p:nvPr/>
        </p:nvPicPr>
        <p:blipFill rotWithShape="1">
          <a:blip r:embed="rId3">
            <a:alphaModFix/>
          </a:blip>
          <a:srcRect l="-8249" t="-13509" b="5261"/>
          <a:stretch/>
        </p:blipFill>
        <p:spPr>
          <a:xfrm>
            <a:off x="1598675" y="977675"/>
            <a:ext cx="1303375" cy="12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46" title="frame_000000_ordered_no_resiz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00" y="3175476"/>
            <a:ext cx="9144003" cy="1352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46" title="frame_000000_ordered_no_resize.jpg"/>
          <p:cNvPicPr preferRelativeResize="0"/>
          <p:nvPr/>
        </p:nvPicPr>
        <p:blipFill rotWithShape="1">
          <a:blip r:embed="rId4">
            <a:alphaModFix/>
          </a:blip>
          <a:srcRect l="24815" t="13252" r="45767" b="13245"/>
          <a:stretch/>
        </p:blipFill>
        <p:spPr>
          <a:xfrm>
            <a:off x="3302388" y="1017725"/>
            <a:ext cx="2690028" cy="99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46" title="frame_000000_ordered_no_resize.jpg"/>
          <p:cNvPicPr preferRelativeResize="0"/>
          <p:nvPr/>
        </p:nvPicPr>
        <p:blipFill rotWithShape="1">
          <a:blip r:embed="rId4">
            <a:alphaModFix/>
          </a:blip>
          <a:srcRect l="70581" t="26498"/>
          <a:stretch/>
        </p:blipFill>
        <p:spPr>
          <a:xfrm>
            <a:off x="6005425" y="2074575"/>
            <a:ext cx="2690028" cy="99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After(geometry-based)  </a:t>
            </a:r>
            <a:endParaRPr/>
          </a:p>
        </p:txBody>
      </p:sp>
      <p:sp>
        <p:nvSpPr>
          <p:cNvPr id="801" name="Google Shape;801;p47"/>
          <p:cNvSpPr txBox="1"/>
          <p:nvPr/>
        </p:nvSpPr>
        <p:spPr>
          <a:xfrm>
            <a:off x="5798725" y="3600650"/>
            <a:ext cx="3370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Size : 2048 x 1024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Ratio : 2:1 ERP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covered pixels: 32.41%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802" name="Google Shape;802;p47"/>
          <p:cNvPicPr preferRelativeResize="0"/>
          <p:nvPr/>
        </p:nvPicPr>
        <p:blipFill rotWithShape="1">
          <a:blip r:embed="rId3">
            <a:alphaModFix/>
          </a:blip>
          <a:srcRect l="-8249" t="-13509" b="5261"/>
          <a:stretch/>
        </p:blipFill>
        <p:spPr>
          <a:xfrm>
            <a:off x="1598675" y="977675"/>
            <a:ext cx="1303375" cy="12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47" title="frame_000000_av2_er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675" y="2204375"/>
            <a:ext cx="5344251" cy="267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47" title="frame_000000_av2_erp.jpg"/>
          <p:cNvPicPr preferRelativeResize="0"/>
          <p:nvPr/>
        </p:nvPicPr>
        <p:blipFill rotWithShape="1">
          <a:blip r:embed="rId4">
            <a:alphaModFix/>
          </a:blip>
          <a:srcRect l="75242" t="39246" r="10918" b="32770"/>
          <a:stretch/>
        </p:blipFill>
        <p:spPr>
          <a:xfrm>
            <a:off x="4143651" y="1051434"/>
            <a:ext cx="1532524" cy="1549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47" title="frame_000000_av2_erp.jpg"/>
          <p:cNvPicPr preferRelativeResize="0"/>
          <p:nvPr/>
        </p:nvPicPr>
        <p:blipFill rotWithShape="1">
          <a:blip r:embed="rId4">
            <a:alphaModFix/>
          </a:blip>
          <a:srcRect l="6156" t="34072" r="72918" b="27169"/>
          <a:stretch/>
        </p:blipFill>
        <p:spPr>
          <a:xfrm>
            <a:off x="5976675" y="547500"/>
            <a:ext cx="2396948" cy="221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After(feature point)  ORB feature detection</a:t>
            </a:r>
            <a:endParaRPr/>
          </a:p>
        </p:txBody>
      </p:sp>
      <p:sp>
        <p:nvSpPr>
          <p:cNvPr id="811" name="Google Shape;811;p48"/>
          <p:cNvSpPr txBox="1"/>
          <p:nvPr/>
        </p:nvSpPr>
        <p:spPr>
          <a:xfrm>
            <a:off x="5798725" y="3600650"/>
            <a:ext cx="3370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Size : 2048 x 1024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Ratio : 2:1 ERP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covered pixels: 40.49%</a:t>
            </a: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812" name="Google Shape;812;p48"/>
          <p:cNvPicPr preferRelativeResize="0"/>
          <p:nvPr/>
        </p:nvPicPr>
        <p:blipFill rotWithShape="1">
          <a:blip r:embed="rId3">
            <a:alphaModFix/>
          </a:blip>
          <a:srcRect l="-8249" t="-13509" b="5261"/>
          <a:stretch/>
        </p:blipFill>
        <p:spPr>
          <a:xfrm>
            <a:off x="1598675" y="977675"/>
            <a:ext cx="1303375" cy="12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48" title="frame_000000_ring7_homography_er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450" y="2350625"/>
            <a:ext cx="4842179" cy="242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48" title="frame_000000_ring7_homography_erp.jpg"/>
          <p:cNvPicPr preferRelativeResize="0"/>
          <p:nvPr/>
        </p:nvPicPr>
        <p:blipFill rotWithShape="1">
          <a:blip r:embed="rId4">
            <a:alphaModFix/>
          </a:blip>
          <a:srcRect l="51773" t="38970" r="32244" b="37375"/>
          <a:stretch/>
        </p:blipFill>
        <p:spPr>
          <a:xfrm>
            <a:off x="3546377" y="1156600"/>
            <a:ext cx="1735327" cy="12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48" title="frame_000000_ring7_homography_erp.jpg"/>
          <p:cNvPicPr preferRelativeResize="0"/>
          <p:nvPr/>
        </p:nvPicPr>
        <p:blipFill rotWithShape="1">
          <a:blip r:embed="rId4">
            <a:alphaModFix/>
          </a:blip>
          <a:srcRect l="35324" t="30026" r="48693" b="40354"/>
          <a:stretch/>
        </p:blipFill>
        <p:spPr>
          <a:xfrm>
            <a:off x="5926025" y="1198450"/>
            <a:ext cx="1735327" cy="160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Dataset</a:t>
            </a:r>
            <a:endParaRPr/>
          </a:p>
        </p:txBody>
      </p:sp>
      <p:pic>
        <p:nvPicPr>
          <p:cNvPr id="875" name="Google Shape;87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550" y="1034813"/>
            <a:ext cx="1303375" cy="1303376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2"/>
          <p:cNvSpPr txBox="1"/>
          <p:nvPr/>
        </p:nvSpPr>
        <p:spPr>
          <a:xfrm>
            <a:off x="837938" y="2204375"/>
            <a:ext cx="3774600" cy="29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用相機 calibration，把 8 張圖重新投影到 360° panorama。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每張圖都有自己的 intrinsic / extrinsic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overlap 區做平滑過渡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最簡單的 blending =&gt; 在 overlap 左邊比較相信 A 圖，右邊比較相信 B 圖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multiband blending=&gt; 它不是整張圖都用同一種混合策略，大尺度亮度差慢慢融合 小尺度細節盡量保留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877" name="Google Shape;877;p52" title="frame_000000_camera_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8426" y="1072513"/>
            <a:ext cx="1790475" cy="19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52" title="frame_000000_camera_0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5674" y="3114875"/>
            <a:ext cx="3506213" cy="19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Theory</a:t>
            </a:r>
            <a:endParaRPr/>
          </a:p>
        </p:txBody>
      </p:sp>
      <p:sp>
        <p:nvSpPr>
          <p:cNvPr id="884" name="Google Shape;884;p53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600"/>
              <a:t>Each experiment Goal</a:t>
            </a:r>
            <a:endParaRPr sz="1600"/>
          </a:p>
        </p:txBody>
      </p:sp>
      <p:graphicFrame>
        <p:nvGraphicFramePr>
          <p:cNvPr id="885" name="Google Shape;885;p53"/>
          <p:cNvGraphicFramePr/>
          <p:nvPr/>
        </p:nvGraphicFramePr>
        <p:xfrm>
          <a:off x="745675" y="165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{FFEFD381-02F9-4FE1-8187-D9DAF5C96512}</a:tableStyleId>
              </a:tblPr>
              <a:tblGrid>
                <a:gridCol w="2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2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Level 1：Geometry feasibility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u="sng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能不能形成合理的 360° panorama？</a:t>
                      </a:r>
                      <a:endParaRPr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dk1"/>
                          </a:solidFill>
                        </a:rPr>
                        <a:t>Level 2：Visual quality</a:t>
                      </a:r>
                      <a:endParaRPr u="sng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seam、ghosting、parallax 是否可接受？</a:t>
                      </a:r>
                      <a:endParaRPr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dk1"/>
                          </a:solidFill>
                        </a:rPr>
                        <a:t>Level 3：Video consistency</a:t>
                      </a:r>
                      <a:endParaRPr u="sng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u="none" strike="noStrike" cap="none">
                          <a:solidFill>
                            <a:schemeClr val="dk1"/>
                          </a:solidFill>
                        </a:rPr>
                        <a:t>Y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連續影格是否穩定？</a:t>
                      </a:r>
                      <a:endParaRPr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u="sng">
                          <a:solidFill>
                            <a:schemeClr val="dk1"/>
                          </a:solidFill>
                        </a:rPr>
                        <a:t>Level 4：Downstream usefulness</a:t>
                      </a:r>
                      <a:endParaRPr u="sng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stitched 360° video 拿去做 Cosmos Transfer training，是否真的有幫助？</a:t>
                      </a:r>
                      <a:endParaRPr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AI-based stitching</a:t>
            </a:r>
            <a:endParaRPr/>
          </a:p>
        </p:txBody>
      </p:sp>
      <p:sp>
        <p:nvSpPr>
          <p:cNvPr id="891" name="Google Shape;891;p5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You can delete this slide when you’re done editing the presentation</a:t>
            </a:r>
            <a:endParaRPr/>
          </a:p>
        </p:txBody>
      </p:sp>
      <p:graphicFrame>
        <p:nvGraphicFramePr>
          <p:cNvPr id="892" name="Google Shape;892;p54"/>
          <p:cNvGraphicFramePr/>
          <p:nvPr/>
        </p:nvGraphicFramePr>
        <p:xfrm>
          <a:off x="745675" y="165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{FFEFD381-02F9-4FE1-8187-D9DAF5C96512}</a:tableStyleId>
              </a:tblPr>
              <a:tblGrid>
                <a:gridCol w="236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  <a:hlinkClick r:id="" action="ppaction://noaction"/>
                        </a:rPr>
                        <a:t>FONTS</a:t>
                      </a:r>
                      <a:endParaRPr sz="900" u="sng" strike="noStrike" cap="none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To view this template correctly in PowerPoint, download and install the fonts we used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  <a:hlinkClick r:id="" action="ppaction://noaction"/>
                        </a:rPr>
                        <a:t>USED</a:t>
                      </a:r>
                      <a:r>
                        <a:rPr lang="en" sz="900" u="none" strike="noStrike" cap="none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 AND </a:t>
                      </a: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  <a:hlinkClick r:id="" action="ppaction://noaction"/>
                        </a:rPr>
                        <a:t>ALTERNATIVE RESOURCES</a:t>
                      </a:r>
                      <a:endParaRPr sz="900" u="sng" strike="noStrike" cap="none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An assortment of graphic resources that are suitable for use in this presentation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  <a:hlinkClick r:id="" action="ppaction://noaction"/>
                        </a:rPr>
                        <a:t>THANKS SLIDE</a:t>
                      </a:r>
                      <a:endParaRPr sz="900" u="sng" strike="noStrike" cap="none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You must keep it so that proper credits for our design are given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  <a:hlinkClick r:id="" action="ppaction://noaction"/>
                        </a:rPr>
                        <a:t>COLORS</a:t>
                      </a:r>
                      <a:endParaRPr sz="900" u="sng" strike="noStrike" cap="none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All the colors used in this presentation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  <a:hlinkClick r:id="" action="ppaction://noaction"/>
                        </a:rPr>
                        <a:t>ICONS</a:t>
                      </a:r>
                      <a:r>
                        <a:rPr lang="en" sz="900" u="none" strike="noStrike" cap="none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 AND </a:t>
                      </a: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  <a:hlinkClick r:id="" action="ppaction://noaction"/>
                        </a:rPr>
                        <a:t>INFOGRAPHIC RESOURCES</a:t>
                      </a:r>
                      <a:endParaRPr sz="900" u="sng" strike="noStrike" cap="none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These can be used in the template, and their size and color can be edited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strike="noStrike" cap="none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EDITABLE PRESENTATION THEME 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45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You can edit the master slides easily. For more info, click </a:t>
                      </a:r>
                      <a:r>
                        <a:rPr lang="en" sz="1000" b="1" u="sng" strike="noStrike" cap="none">
                          <a:solidFill>
                            <a:schemeClr val="hlink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  <a:hlinkClick r:id="rId3"/>
                        </a:rPr>
                        <a:t>here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93" name="Google Shape;893;p54"/>
          <p:cNvSpPr txBox="1"/>
          <p:nvPr/>
        </p:nvSpPr>
        <p:spPr>
          <a:xfrm>
            <a:off x="720000" y="3921975"/>
            <a:ext cx="234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For more info:</a:t>
            </a:r>
            <a:br>
              <a:rPr lang="en" sz="1000" b="1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 sz="1100" b="1" i="0" u="sng" strike="noStrike" cap="non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/>
              </a:rPr>
              <a:t>Slidesgo</a:t>
            </a:r>
            <a:r>
              <a:rPr lang="en" sz="1100" b="1" i="0" u="none" strike="noStrike" cap="none">
                <a:solidFill>
                  <a:schemeClr val="hlink"/>
                </a:solidFill>
                <a:uFill>
                  <a:noFill/>
                </a:uFill>
                <a:latin typeface="Hanken Grotesk"/>
                <a:ea typeface="Hanken Grotesk"/>
                <a:cs typeface="Hanken Grotesk"/>
                <a:sym typeface="Hanken Grotesk"/>
                <a:hlinkClick r:id="rId4"/>
              </a:rPr>
              <a:t> </a:t>
            </a:r>
            <a:r>
              <a:rPr lang="en" sz="1100" b="1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| </a:t>
            </a:r>
            <a:r>
              <a:rPr lang="en" sz="1100" b="1" i="0" u="sng" strike="noStrike" cap="non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5"/>
              </a:rPr>
              <a:t>Blog</a:t>
            </a:r>
            <a:r>
              <a:rPr lang="en" sz="1100" b="1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| </a:t>
            </a:r>
            <a:r>
              <a:rPr lang="en" sz="1100" b="1" i="0" u="sng" strike="noStrike" cap="non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6"/>
              </a:rPr>
              <a:t>FAQ</a:t>
            </a:r>
            <a:r>
              <a:rPr lang="en" sz="1100" b="1" i="0" u="sng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</a:t>
            </a:r>
            <a:endParaRPr sz="1100" b="1" i="0" u="sng" strike="noStrike" cap="non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94" name="Google Shape;894;p54"/>
          <p:cNvSpPr txBox="1"/>
          <p:nvPr/>
        </p:nvSpPr>
        <p:spPr>
          <a:xfrm>
            <a:off x="3294000" y="3921975"/>
            <a:ext cx="513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You can visit our sister projects:</a:t>
            </a:r>
            <a:br>
              <a:rPr lang="en" sz="1000" b="1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 sz="1100" b="1" i="0" u="sng" strike="noStrike" cap="non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7"/>
              </a:rPr>
              <a:t>Freepik</a:t>
            </a:r>
            <a:r>
              <a:rPr lang="en" sz="1100" b="1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| </a:t>
            </a:r>
            <a:r>
              <a:rPr lang="en" sz="1100" b="1" i="0" u="sng" strike="noStrike" cap="non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8"/>
              </a:rPr>
              <a:t>Flaticon</a:t>
            </a:r>
            <a:r>
              <a:rPr lang="en" sz="1100" b="1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| </a:t>
            </a:r>
            <a:r>
              <a:rPr lang="en" sz="1100" b="1" i="0" u="sng" strike="noStrike" cap="non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9"/>
              </a:rPr>
              <a:t>Storyset</a:t>
            </a:r>
            <a:r>
              <a:rPr lang="en" sz="1100" b="1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| </a:t>
            </a:r>
            <a:r>
              <a:rPr lang="en" sz="1100" b="1" i="0" u="sng" strike="noStrike" cap="non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10"/>
              </a:rPr>
              <a:t>Wepik</a:t>
            </a:r>
            <a:r>
              <a:rPr lang="en" sz="1100" b="1" i="0" u="none" strike="noStrike" cap="none">
                <a:solidFill>
                  <a:schemeClr val="hlink"/>
                </a:solidFill>
                <a:uFill>
                  <a:noFill/>
                </a:uFill>
                <a:latin typeface="Hanken Grotesk"/>
                <a:ea typeface="Hanken Grotesk"/>
                <a:cs typeface="Hanken Grotesk"/>
                <a:sym typeface="Hanken Grotesk"/>
                <a:hlinkClick r:id="rId10"/>
              </a:rPr>
              <a:t> </a:t>
            </a:r>
            <a:r>
              <a:rPr lang="en" sz="1100" b="1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| </a:t>
            </a:r>
            <a:r>
              <a:rPr lang="en" sz="1100" b="1" i="0" u="sng" strike="noStrike" cap="non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11"/>
              </a:rPr>
              <a:t>Videvo</a:t>
            </a:r>
            <a:endParaRPr sz="1100" b="1" i="0" u="none" strike="noStrike" cap="non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Method</a:t>
            </a:r>
            <a:endParaRPr/>
          </a:p>
        </p:txBody>
      </p:sp>
      <p:graphicFrame>
        <p:nvGraphicFramePr>
          <p:cNvPr id="900" name="Google Shape;900;p55"/>
          <p:cNvGraphicFramePr/>
          <p:nvPr/>
        </p:nvGraphicFramePr>
        <p:xfrm>
          <a:off x="3902350" y="150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{73B3670B-F1EA-40AF-9631-C954C6E81A48}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方法一，純 calibration 投影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多相機是否能基本重建 360 視野？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方法二，加入 depth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能否改善 parallax 與近物錯位？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方法三，feature stitch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傳統拼接 baseline 會不會失敗？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方法四，固定角度切片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最粗糙 baseline 長什麼樣？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01" name="Google Shape;901;p55" title="frame_000000_ordered_no_resiz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50" y="4548900"/>
            <a:ext cx="11035100" cy="153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4875" y="1182988"/>
            <a:ext cx="1303375" cy="130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Dataset</a:t>
            </a:r>
            <a:endParaRPr/>
          </a:p>
        </p:txBody>
      </p:sp>
      <p:pic>
        <p:nvPicPr>
          <p:cNvPr id="908" name="Google Shape;90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550" y="1034813"/>
            <a:ext cx="1303375" cy="130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56"/>
          <p:cNvPicPr preferRelativeResize="0"/>
          <p:nvPr/>
        </p:nvPicPr>
        <p:blipFill rotWithShape="1">
          <a:blip r:embed="rId4">
            <a:alphaModFix/>
          </a:blip>
          <a:srcRect l="-8249" t="-13509" b="5261"/>
          <a:stretch/>
        </p:blipFill>
        <p:spPr>
          <a:xfrm>
            <a:off x="5638800" y="924200"/>
            <a:ext cx="1303375" cy="122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56"/>
          <p:cNvSpPr txBox="1"/>
          <p:nvPr/>
        </p:nvSpPr>
        <p:spPr>
          <a:xfrm>
            <a:off x="837938" y="2204375"/>
            <a:ext cx="3774600" cy="24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Waymo End-to-End Driving Dataset 官方頁面寫的是：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相機資料是 </a:t>
            </a:r>
            <a:r>
              <a:rPr lang="en" sz="1100" b="1">
                <a:solidFill>
                  <a:schemeClr val="dk1"/>
                </a:solidFill>
              </a:rPr>
              <a:t>10 Hz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Training：2,037 segments，每段 20 秒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Validation：479 segments，每段 20 秒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Testing：1,505 segments，每段 12 秒。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用Testing =&gt; 12 sec×10 frames/sec= 120 frames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911" name="Google Shape;911;p56"/>
          <p:cNvSpPr txBox="1"/>
          <p:nvPr/>
        </p:nvSpPr>
        <p:spPr>
          <a:xfrm>
            <a:off x="5054125" y="2204375"/>
            <a:ext cx="3000000" cy="13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Scenario duration: 15 seconds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Total number of scenarios: 1000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Average number of cuboids per frame: 75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</Words>
  <Application>Microsoft Office PowerPoint</Application>
  <PresentationFormat>On-screen Show (16:9)</PresentationFormat>
  <Paragraphs>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Courier New</vt:lpstr>
      <vt:lpstr>Raleway ExtraBold</vt:lpstr>
      <vt:lpstr>Hanken Grotesk</vt:lpstr>
      <vt:lpstr>Raleway Black</vt:lpstr>
      <vt:lpstr>Arial</vt:lpstr>
      <vt:lpstr>Simple Light</vt:lpstr>
      <vt:lpstr>Technology Market Research Pitch Deck by Slidesgo</vt:lpstr>
      <vt:lpstr>BOSCH  RESEARCH  </vt:lpstr>
      <vt:lpstr>Dataset</vt:lpstr>
      <vt:lpstr>Dataset</vt:lpstr>
      <vt:lpstr>Dataset</vt:lpstr>
      <vt:lpstr>Original </vt:lpstr>
      <vt:lpstr>After (geometry-based)   </vt:lpstr>
      <vt:lpstr>Original </vt:lpstr>
      <vt:lpstr>After(geometry-based)  </vt:lpstr>
      <vt:lpstr>After(feature point)  ORB feature detection</vt:lpstr>
      <vt:lpstr>Dataset</vt:lpstr>
      <vt:lpstr>Theory</vt:lpstr>
      <vt:lpstr>AI-based stitching</vt:lpstr>
      <vt:lpstr>Method</vt:lpstr>
      <vt:lpstr>Dataset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e15042</cp:lastModifiedBy>
  <cp:revision>1</cp:revision>
  <dcterms:modified xsi:type="dcterms:W3CDTF">2026-05-25T10:11:46Z</dcterms:modified>
</cp:coreProperties>
</file>